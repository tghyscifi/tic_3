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300" r:id="rId4"/>
    <p:sldId id="258" r:id="rId5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41" d="100"/>
          <a:sy n="41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47252-CE0B-4791-A02F-6D6352062697}" type="datetimeFigureOut">
              <a:rPr lang="zh-CN" altLang="en-US" smtClean="0"/>
              <a:t>2021/10/24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0B5AD-336E-4BC1-95DB-AC732AB6C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4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B5AD-336E-4BC1-95DB-AC732AB6C2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95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 err="1">
                <a:latin typeface="Arial"/>
              </a:rPr>
              <a:t>Soud</a:t>
            </a:r>
            <a:r>
              <a:rPr lang="en-US" altLang="zh-CN" sz="11600" spc="-1" dirty="0">
                <a:latin typeface="Arial"/>
              </a:rPr>
              <a:t> Tracking </a:t>
            </a:r>
            <a:r>
              <a:rPr lang="zh-CN" altLang="en-US" sz="11600" spc="-1" dirty="0">
                <a:latin typeface="Arial"/>
              </a:rPr>
              <a:t>动态接收数据需求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698D1E-6A34-45E1-B1C0-D02F9BA202AB}"/>
              </a:ext>
            </a:extLst>
          </p:cNvPr>
          <p:cNvSpPr txBox="1"/>
          <p:nvPr/>
        </p:nvSpPr>
        <p:spPr>
          <a:xfrm>
            <a:off x="1092529" y="902523"/>
            <a:ext cx="14547273" cy="1141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输入数据为：</a:t>
            </a:r>
            <a:r>
              <a:rPr lang="en-US" altLang="zh-CN" sz="3200" dirty="0"/>
              <a:t>8*257*41  </a:t>
            </a:r>
            <a:r>
              <a:rPr lang="zh-CN" altLang="en-US" sz="3200" dirty="0"/>
              <a:t>（通道</a:t>
            </a:r>
            <a:r>
              <a:rPr lang="en-US" altLang="zh-CN" sz="3200" dirty="0"/>
              <a:t> * </a:t>
            </a:r>
            <a:r>
              <a:rPr lang="zh-CN" altLang="en-US" sz="3200" dirty="0"/>
              <a:t>高度 </a:t>
            </a:r>
            <a:r>
              <a:rPr lang="en-US" altLang="zh-CN" sz="3200" dirty="0"/>
              <a:t>* </a:t>
            </a:r>
            <a:r>
              <a:rPr lang="zh-CN" altLang="en-US" sz="3200" dirty="0"/>
              <a:t>宽度）</a:t>
            </a:r>
            <a:endParaRPr lang="en-US" altLang="zh-CN" sz="3200" dirty="0"/>
          </a:p>
          <a:p>
            <a:r>
              <a:rPr lang="zh-CN" altLang="en-US" sz="3200" dirty="0"/>
              <a:t>输入数据首先通道方向补</a:t>
            </a:r>
            <a:r>
              <a:rPr lang="en-US" altLang="zh-CN" sz="3200" dirty="0"/>
              <a:t>8</a:t>
            </a:r>
            <a:r>
              <a:rPr lang="zh-CN" altLang="en-US" sz="3200" dirty="0"/>
              <a:t>个零，成为</a:t>
            </a:r>
            <a:r>
              <a:rPr lang="en-US" altLang="zh-CN" sz="3200" dirty="0"/>
              <a:t>16*257*41</a:t>
            </a:r>
            <a:r>
              <a:rPr lang="zh-CN" altLang="en-US" sz="3200" dirty="0"/>
              <a:t>的数据</a:t>
            </a:r>
            <a:endParaRPr lang="en-US" altLang="zh-CN" sz="3200" dirty="0"/>
          </a:p>
          <a:p>
            <a:r>
              <a:rPr lang="zh-CN" altLang="en-US" sz="3200" dirty="0"/>
              <a:t>（前</a:t>
            </a:r>
            <a:r>
              <a:rPr lang="en-US" altLang="zh-CN" sz="3200" dirty="0"/>
              <a:t>8</a:t>
            </a:r>
            <a:r>
              <a:rPr lang="zh-CN" altLang="en-US" sz="3200" dirty="0"/>
              <a:t>通道为真实的输入数据，后</a:t>
            </a:r>
            <a:r>
              <a:rPr lang="en-US" altLang="zh-CN" sz="3200" dirty="0"/>
              <a:t>8</a:t>
            </a:r>
            <a:r>
              <a:rPr lang="zh-CN" altLang="en-US" sz="3200" dirty="0"/>
              <a:t>通道全为</a:t>
            </a:r>
            <a:r>
              <a:rPr lang="en-US" altLang="zh-CN" sz="3200" dirty="0"/>
              <a:t>0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数据宽度拆</a:t>
            </a:r>
            <a:r>
              <a:rPr lang="en-US" altLang="zh-CN" sz="3200" dirty="0"/>
              <a:t>4</a:t>
            </a:r>
            <a:r>
              <a:rPr lang="zh-CN" altLang="en-US" sz="3200" dirty="0"/>
              <a:t>份，高度不拆分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1-41</a:t>
            </a:r>
            <a:r>
              <a:rPr lang="zh-CN" altLang="en-US" sz="3200" dirty="0"/>
              <a:t>的宽度拆分为：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1-10		11-20	21-30	31-41</a:t>
            </a:r>
          </a:p>
          <a:p>
            <a:r>
              <a:rPr lang="zh-CN" altLang="en-US" sz="3200" dirty="0"/>
              <a:t>（</a:t>
            </a:r>
            <a:r>
              <a:rPr lang="en-US" altLang="zh-CN" sz="3200" dirty="0"/>
              <a:t>10</a:t>
            </a:r>
            <a:r>
              <a:rPr lang="zh-CN" altLang="en-US" sz="3200" dirty="0"/>
              <a:t>列）</a:t>
            </a:r>
            <a:r>
              <a:rPr lang="en-US" altLang="zh-CN" sz="3200" dirty="0"/>
              <a:t>	</a:t>
            </a:r>
            <a:r>
              <a:rPr lang="zh-CN" altLang="en-US" sz="3200" dirty="0"/>
              <a:t>（</a:t>
            </a:r>
            <a:r>
              <a:rPr lang="en-US" altLang="zh-CN" sz="3200" dirty="0"/>
              <a:t>10</a:t>
            </a:r>
            <a:r>
              <a:rPr lang="zh-CN" altLang="en-US" sz="3200" dirty="0"/>
              <a:t>列）</a:t>
            </a:r>
            <a:r>
              <a:rPr lang="en-US" altLang="zh-CN" sz="3200" dirty="0"/>
              <a:t>	</a:t>
            </a:r>
            <a:r>
              <a:rPr lang="zh-CN" altLang="en-US" sz="3200" dirty="0"/>
              <a:t>（</a:t>
            </a:r>
            <a:r>
              <a:rPr lang="en-US" altLang="zh-CN" sz="3200" dirty="0"/>
              <a:t>10</a:t>
            </a:r>
            <a:r>
              <a:rPr lang="zh-CN" altLang="en-US" sz="3200" dirty="0"/>
              <a:t>列）</a:t>
            </a:r>
            <a:r>
              <a:rPr lang="en-US" altLang="zh-CN" sz="3200" dirty="0"/>
              <a:t>	</a:t>
            </a:r>
            <a:r>
              <a:rPr lang="zh-CN" altLang="en-US" sz="3200" dirty="0"/>
              <a:t>（</a:t>
            </a:r>
            <a:r>
              <a:rPr lang="en-US" altLang="zh-CN" sz="3200" dirty="0"/>
              <a:t>11</a:t>
            </a:r>
            <a:r>
              <a:rPr lang="zh-CN" altLang="en-US" sz="3200" dirty="0"/>
              <a:t>列）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分别的数据量为：</a:t>
            </a:r>
            <a:endParaRPr lang="en-US" altLang="zh-CN" sz="3200" dirty="0"/>
          </a:p>
          <a:p>
            <a:r>
              <a:rPr lang="en-US" altLang="zh-CN" sz="3200" dirty="0"/>
              <a:t>16*257*10	16*257*10	16*257*10	16*257*11</a:t>
            </a:r>
          </a:p>
          <a:p>
            <a:r>
              <a:rPr lang="zh-CN" altLang="en-US" sz="3200" dirty="0"/>
              <a:t>（</a:t>
            </a:r>
            <a:r>
              <a:rPr lang="en-US" altLang="zh-CN" sz="3200" dirty="0"/>
              <a:t>41120B		41120B		41120B		45232B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分</a:t>
            </a:r>
            <a:r>
              <a:rPr lang="en-US" altLang="zh-CN" sz="3200" dirty="0"/>
              <a:t>4</a:t>
            </a:r>
            <a:r>
              <a:rPr lang="zh-CN" altLang="en-US" sz="3200" dirty="0"/>
              <a:t>个</a:t>
            </a:r>
            <a:r>
              <a:rPr lang="en-US" altLang="zh-CN" sz="3200" dirty="0"/>
              <a:t>phase</a:t>
            </a:r>
            <a:r>
              <a:rPr lang="zh-CN" altLang="en-US" sz="3200" dirty="0"/>
              <a:t>发入芯片，每个</a:t>
            </a:r>
            <a:r>
              <a:rPr lang="en-US" altLang="zh-CN" sz="3200" dirty="0"/>
              <a:t>phase</a:t>
            </a:r>
            <a:r>
              <a:rPr lang="zh-CN" altLang="en-US" sz="3200" dirty="0"/>
              <a:t>发送的数据量为：</a:t>
            </a:r>
            <a:endParaRPr lang="en-US" altLang="zh-CN" sz="3200" dirty="0"/>
          </a:p>
          <a:p>
            <a:r>
              <a:rPr lang="en-US" altLang="zh-CN" sz="3200" dirty="0"/>
              <a:t>10240B		10240B		 10240B		 11264B</a:t>
            </a:r>
          </a:p>
          <a:p>
            <a:r>
              <a:rPr lang="en-US" altLang="zh-CN" sz="3200" dirty="0"/>
              <a:t>10240B		 10240B		 10240B		 11264B</a:t>
            </a:r>
          </a:p>
          <a:p>
            <a:r>
              <a:rPr lang="en-US" altLang="zh-CN" sz="3200" dirty="0"/>
              <a:t>10240B		 10240B		 10240B		 11264B</a:t>
            </a:r>
          </a:p>
          <a:p>
            <a:r>
              <a:rPr lang="en-US" altLang="zh-CN" sz="3200" dirty="0"/>
              <a:t>10400B		 10400B 		 10400B 		 11440B</a:t>
            </a:r>
          </a:p>
          <a:p>
            <a:endParaRPr lang="en-US" altLang="zh-CN" sz="3200" dirty="0"/>
          </a:p>
          <a:p>
            <a:r>
              <a:rPr lang="zh-CN" altLang="en-US" sz="3200" dirty="0"/>
              <a:t>分别发送到的目的</a:t>
            </a:r>
            <a:r>
              <a:rPr lang="en-US" altLang="zh-CN" sz="3200" dirty="0"/>
              <a:t>core</a:t>
            </a:r>
            <a:r>
              <a:rPr lang="zh-CN" altLang="en-US" sz="3200" dirty="0"/>
              <a:t>的绝对坐标为：</a:t>
            </a:r>
            <a:endParaRPr lang="en-US" altLang="zh-CN" sz="3200" dirty="0"/>
          </a:p>
          <a:p>
            <a:r>
              <a:rPr lang="en-US" altLang="zh-CN" sz="3200" dirty="0"/>
              <a:t>(0, 0)		(1, 0)		(2, 0)		(3, 0)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4569E1-7FBC-482E-BA13-EA2130BB5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567" y="2394300"/>
            <a:ext cx="8848725" cy="62198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2A42E5C-5534-437D-B770-334286B53264}"/>
              </a:ext>
            </a:extLst>
          </p:cNvPr>
          <p:cNvSpPr txBox="1"/>
          <p:nvPr/>
        </p:nvSpPr>
        <p:spPr>
          <a:xfrm>
            <a:off x="17266722" y="9108374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蓝色的</a:t>
            </a:r>
            <a:r>
              <a:rPr lang="en-US" altLang="zh-CN" dirty="0"/>
              <a:t>core</a:t>
            </a:r>
            <a:r>
              <a:rPr lang="zh-CN" altLang="en-US" dirty="0"/>
              <a:t>为</a:t>
            </a:r>
            <a:r>
              <a:rPr lang="en-US" altLang="zh-CN" dirty="0"/>
              <a:t>4</a:t>
            </a:r>
            <a:r>
              <a:rPr lang="zh-CN" altLang="en-US" dirty="0"/>
              <a:t>个发送的目标</a:t>
            </a:r>
            <a:r>
              <a:rPr lang="en-US" altLang="zh-CN" dirty="0"/>
              <a:t>core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224EB-8CEC-4BE2-83B0-884035243C79}"/>
              </a:ext>
            </a:extLst>
          </p:cNvPr>
          <p:cNvSpPr txBox="1"/>
          <p:nvPr/>
        </p:nvSpPr>
        <p:spPr>
          <a:xfrm>
            <a:off x="10889815" y="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芯片路由接收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61B631-ABFC-479D-87B1-763480E82B02}"/>
              </a:ext>
            </a:extLst>
          </p:cNvPr>
          <p:cNvSpPr txBox="1"/>
          <p:nvPr/>
        </p:nvSpPr>
        <p:spPr>
          <a:xfrm>
            <a:off x="15350591" y="10446818"/>
            <a:ext cx="5942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数据包打包的时候，每个</a:t>
            </a:r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的最后一个包的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应该为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15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7755C6E-B511-41FC-9184-3D10928C6610}"/>
              </a:ext>
            </a:extLst>
          </p:cNvPr>
          <p:cNvSpPr txBox="1"/>
          <p:nvPr/>
        </p:nvSpPr>
        <p:spPr>
          <a:xfrm>
            <a:off x="10889815" y="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芯片路由发送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7F8DB5-F26F-4851-B792-87407B0ED7F5}"/>
              </a:ext>
            </a:extLst>
          </p:cNvPr>
          <p:cNvSpPr txBox="1"/>
          <p:nvPr/>
        </p:nvSpPr>
        <p:spPr>
          <a:xfrm>
            <a:off x="1092530" y="902523"/>
            <a:ext cx="12136388" cy="7387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/>
              <a:t>Trigger</a:t>
            </a:r>
            <a:r>
              <a:rPr lang="zh-CN" altLang="en-US" sz="3200" dirty="0"/>
              <a:t>上升沿之后，第一个</a:t>
            </a:r>
            <a:r>
              <a:rPr lang="en-US" altLang="zh-CN" sz="3200" dirty="0"/>
              <a:t>phase</a:t>
            </a:r>
            <a:r>
              <a:rPr lang="zh-CN" altLang="en-US" sz="3200" dirty="0"/>
              <a:t>，</a:t>
            </a:r>
            <a:endParaRPr lang="en-US" altLang="zh-CN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/>
              <a:t>紫色</a:t>
            </a:r>
            <a:r>
              <a:rPr lang="en-US" altLang="zh-CN" sz="3200" dirty="0"/>
              <a:t>core</a:t>
            </a:r>
            <a:r>
              <a:rPr lang="zh-CN" altLang="en-US" sz="3200" dirty="0"/>
              <a:t>会发送</a:t>
            </a:r>
            <a:r>
              <a:rPr lang="en-US" altLang="zh-CN" sz="3200" dirty="0"/>
              <a:t>16B</a:t>
            </a:r>
            <a:r>
              <a:rPr lang="zh-CN" altLang="en-US" sz="3200" dirty="0"/>
              <a:t>数据给</a:t>
            </a:r>
            <a:r>
              <a:rPr lang="en-US" altLang="zh-CN" sz="3200" dirty="0"/>
              <a:t>FPGA</a:t>
            </a: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个路由包）</a:t>
            </a:r>
            <a:endParaRPr lang="en-US" altLang="zh-CN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/>
              <a:t>红色</a:t>
            </a:r>
            <a:r>
              <a:rPr lang="en-US" altLang="zh-CN" sz="3200" dirty="0"/>
              <a:t>core</a:t>
            </a:r>
            <a:r>
              <a:rPr lang="zh-CN" altLang="en-US" sz="3200" dirty="0"/>
              <a:t>为一个假想</a:t>
            </a:r>
            <a:r>
              <a:rPr lang="en-US" altLang="zh-CN" sz="3200" dirty="0"/>
              <a:t>core</a:t>
            </a:r>
            <a:r>
              <a:rPr lang="zh-CN" altLang="en-US" sz="3200" dirty="0"/>
              <a:t>，相当于实际中的</a:t>
            </a:r>
            <a:r>
              <a:rPr lang="en-US" altLang="zh-CN" sz="3200" dirty="0"/>
              <a:t>FPGA</a:t>
            </a:r>
            <a:r>
              <a:rPr lang="zh-CN" altLang="en-US" sz="3200" dirty="0"/>
              <a:t>。紫色</a:t>
            </a:r>
            <a:r>
              <a:rPr lang="en-US" altLang="zh-CN" sz="3200" dirty="0"/>
              <a:t>core</a:t>
            </a:r>
            <a:r>
              <a:rPr lang="zh-CN" altLang="en-US" sz="3200" dirty="0"/>
              <a:t>会向红色</a:t>
            </a:r>
            <a:r>
              <a:rPr lang="en-US" altLang="zh-CN" sz="3200" dirty="0"/>
              <a:t>core</a:t>
            </a:r>
            <a:r>
              <a:rPr lang="zh-CN" altLang="en-US" sz="3200" dirty="0"/>
              <a:t>发送这</a:t>
            </a:r>
            <a:r>
              <a:rPr lang="en-US" altLang="zh-CN" sz="3200" dirty="0"/>
              <a:t>16B</a:t>
            </a:r>
            <a:r>
              <a:rPr lang="zh-CN" altLang="en-US" sz="3200" dirty="0"/>
              <a:t>的数据。</a:t>
            </a:r>
            <a:endParaRPr lang="en-US" altLang="zh-CN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/>
              <a:t>相当于</a:t>
            </a:r>
            <a:r>
              <a:rPr lang="en-US" altLang="zh-CN" sz="3200" dirty="0"/>
              <a:t>FPGA</a:t>
            </a:r>
            <a:r>
              <a:rPr lang="zh-CN" altLang="en-US" sz="3200" dirty="0"/>
              <a:t>收到跨片数据包的时候：</a:t>
            </a:r>
            <a:endParaRPr lang="en-US" altLang="zh-CN" sz="32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 err="1"/>
              <a:t>CoreID</a:t>
            </a:r>
            <a:r>
              <a:rPr lang="en-US" altLang="zh-CN" sz="3200" dirty="0"/>
              <a:t>=4’d0;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/>
              <a:t>Payload[91:76] = 16’d0</a:t>
            </a:r>
            <a:r>
              <a:rPr lang="zh-CN" altLang="en-US" sz="3200" dirty="0"/>
              <a:t> （即</a:t>
            </a:r>
            <a:r>
              <a:rPr lang="en-US" altLang="zh-CN" sz="3200" dirty="0"/>
              <a:t>32bit</a:t>
            </a:r>
            <a:r>
              <a:rPr lang="zh-CN" altLang="en-US" sz="3200" dirty="0"/>
              <a:t>的路由包头中</a:t>
            </a:r>
            <a:r>
              <a:rPr lang="en-US" altLang="zh-CN" sz="3200" dirty="0"/>
              <a:t>X</a:t>
            </a:r>
            <a:r>
              <a:rPr lang="zh-CN" altLang="en-US" sz="3200" dirty="0"/>
              <a:t>、</a:t>
            </a:r>
            <a:r>
              <a:rPr lang="en-US" altLang="zh-CN" sz="3200" dirty="0"/>
              <a:t>Y</a:t>
            </a:r>
            <a:r>
              <a:rPr lang="zh-CN" altLang="en-US" sz="3200" dirty="0"/>
              <a:t>为</a:t>
            </a:r>
            <a:r>
              <a:rPr lang="en-US" altLang="zh-CN" sz="3200" dirty="0"/>
              <a:t>0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endParaRPr lang="en-US" altLang="zh-CN" sz="3200" dirty="0"/>
          </a:p>
          <a:p>
            <a:pPr>
              <a:lnSpc>
                <a:spcPct val="150000"/>
              </a:lnSpc>
            </a:pPr>
            <a:endParaRPr lang="en-US" altLang="zh-CN" sz="3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01F7F9-AD63-46F1-AE85-CAF9A795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481" y="172441"/>
            <a:ext cx="9782175" cy="7124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8709A1-8DE1-4917-89DD-053D3C7FF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918" y="7825839"/>
            <a:ext cx="10943737" cy="21813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DE06C5-E327-47AB-9F79-1611F11BD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498" y="11063362"/>
            <a:ext cx="10103427" cy="1570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331</Words>
  <Application>Microsoft Office PowerPoint</Application>
  <PresentationFormat>自定义</PresentationFormat>
  <Paragraphs>36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DejaVu Sans</vt:lpstr>
      <vt:lpstr>等线</vt:lpstr>
      <vt:lpstr>Arial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sch20</cp:lastModifiedBy>
  <cp:revision>128</cp:revision>
  <dcterms:created xsi:type="dcterms:W3CDTF">2021-08-29T14:06:47Z</dcterms:created>
  <dcterms:modified xsi:type="dcterms:W3CDTF">2021-10-25T07:41:19Z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