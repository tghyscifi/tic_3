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6"/>
  </p:notesMasterIdLst>
  <p:sldIdLst>
    <p:sldId id="256" r:id="rId3"/>
    <p:sldId id="258" r:id="rId4"/>
    <p:sldId id="265" r:id="rId5"/>
    <p:sldId id="266" r:id="rId6"/>
    <p:sldId id="267" r:id="rId7"/>
    <p:sldId id="268" r:id="rId8"/>
    <p:sldId id="259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</p:sldIdLst>
  <p:sldSz cx="24384000" cy="13716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4"/>
    <p:restoredTop sz="94609"/>
  </p:normalViewPr>
  <p:slideViewPr>
    <p:cSldViewPr snapToGrid="0" snapToObjects="1">
      <p:cViewPr varScale="1">
        <p:scale>
          <a:sx n="75" d="100"/>
          <a:sy n="75" d="100"/>
        </p:scale>
        <p:origin x="1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52623-65F5-423B-A9D7-6C0D69EC0521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7F75C-4943-400E-82F3-EC05F233CD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00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点击鼠标编辑大纲文字格式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第二个大纲级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第三大纲级别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第四大纲级别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第五大纲级别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第六大纲级别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第七大纲级别</a:t>
            </a:r>
            <a:endParaRPr lang="en-US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点击鼠标编辑大纲文字格式</a:t>
            </a:r>
            <a:endParaRPr lang="en-US" sz="18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第二个大纲级</a:t>
            </a:r>
            <a:endParaRPr lang="en-US" sz="1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第三大纲级别</a:t>
            </a:r>
            <a:endParaRPr lang="en-US" sz="18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第四大纲级别</a:t>
            </a:r>
            <a:endParaRPr lang="en-US" sz="18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第五大纲级别</a:t>
            </a:r>
            <a:endParaRPr lang="en-US" sz="18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第六大纲级别</a:t>
            </a:r>
            <a:endParaRPr lang="en-US" sz="18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第七大纲级别</a:t>
            </a:r>
            <a:endParaRPr lang="en-US" sz="18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spc="-1" dirty="0">
                <a:latin typeface="Arial"/>
              </a:rPr>
              <a:t>L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1 core</a:t>
            </a:r>
            <a:endParaRPr lang="en-US" sz="5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19"/>
            <a:ext cx="2960100" cy="6652316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64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2048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2048 * 4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2048 * 32 / 1024 = 64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2048 / 1024 = 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latin typeface="Arial"/>
              </a:rPr>
              <a:t>Y2 = 32 / 1024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38362" y="3639936"/>
            <a:ext cx="2960100" cy="3218064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32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37655" y="6857041"/>
            <a:ext cx="2960807" cy="80188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8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5" name="CustomShape 10">
            <a:extLst>
              <a:ext uri="{FF2B5EF4-FFF2-40B4-BE49-F238E27FC236}">
                <a16:creationId xmlns:a16="http://schemas.microsoft.com/office/drawing/2014/main" id="{FCD1D699-5A6E-FD49-B965-33D77D9267C5}"/>
              </a:ext>
            </a:extLst>
          </p:cNvPr>
          <p:cNvSpPr/>
          <p:nvPr/>
        </p:nvSpPr>
        <p:spPr>
          <a:xfrm>
            <a:off x="900338" y="666885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6" name="CustomShape 10">
            <a:extLst>
              <a:ext uri="{FF2B5EF4-FFF2-40B4-BE49-F238E27FC236}">
                <a16:creationId xmlns:a16="http://schemas.microsoft.com/office/drawing/2014/main" id="{FA0D4C27-F590-7245-9DB0-CBDBC1392F61}"/>
              </a:ext>
            </a:extLst>
          </p:cNvPr>
          <p:cNvSpPr/>
          <p:nvPr/>
        </p:nvSpPr>
        <p:spPr>
          <a:xfrm>
            <a:off x="900338" y="746074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0xA000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7" name="Group 15">
            <a:extLst>
              <a:ext uri="{FF2B5EF4-FFF2-40B4-BE49-F238E27FC236}">
                <a16:creationId xmlns:a16="http://schemas.microsoft.com/office/drawing/2014/main" id="{745FD81F-8280-B94F-AE30-A1FE0C68F37C}"/>
              </a:ext>
            </a:extLst>
          </p:cNvPr>
          <p:cNvGrpSpPr/>
          <p:nvPr/>
        </p:nvGrpSpPr>
        <p:grpSpPr>
          <a:xfrm>
            <a:off x="1904378" y="9885955"/>
            <a:ext cx="2960807" cy="367878"/>
            <a:chOff x="3652920" y="3623040"/>
            <a:chExt cx="1643040" cy="304200"/>
          </a:xfrm>
        </p:grpSpPr>
        <p:sp>
          <p:nvSpPr>
            <p:cNvPr id="28" name="CustomShape 16">
              <a:extLst>
                <a:ext uri="{FF2B5EF4-FFF2-40B4-BE49-F238E27FC236}">
                  <a16:creationId xmlns:a16="http://schemas.microsoft.com/office/drawing/2014/main" id="{72D667FC-49DD-944A-A141-AB33B241E56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9" name="CustomShape 17">
              <a:extLst>
                <a:ext uri="{FF2B5EF4-FFF2-40B4-BE49-F238E27FC236}">
                  <a16:creationId xmlns:a16="http://schemas.microsoft.com/office/drawing/2014/main" id="{4A7E51B9-02E6-AF4A-8E34-11C53A36365C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19485" y="7663269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3" name="CustomShape 10">
            <a:extLst>
              <a:ext uri="{FF2B5EF4-FFF2-40B4-BE49-F238E27FC236}">
                <a16:creationId xmlns:a16="http://schemas.microsoft.com/office/drawing/2014/main" id="{1DB9CCCC-22E6-E44A-8BFB-34336D00A580}"/>
              </a:ext>
            </a:extLst>
          </p:cNvPr>
          <p:cNvSpPr/>
          <p:nvPr/>
        </p:nvSpPr>
        <p:spPr>
          <a:xfrm>
            <a:off x="904262" y="790952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0xA020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594" y="8135472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0" name="CustomShape 10">
            <a:extLst>
              <a:ext uri="{FF2B5EF4-FFF2-40B4-BE49-F238E27FC236}">
                <a16:creationId xmlns:a16="http://schemas.microsoft.com/office/drawing/2014/main" id="{DDE634DB-B71E-114C-B04B-1C51487BBF5F}"/>
              </a:ext>
            </a:extLst>
          </p:cNvPr>
          <p:cNvSpPr/>
          <p:nvPr/>
        </p:nvSpPr>
        <p:spPr>
          <a:xfrm>
            <a:off x="928846" y="838083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0xA820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19485" y="8626191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32 / 1024</a:t>
              </a:r>
              <a:endParaRPr lang="en-US" b="0" strike="noStrike" spc="-1" dirty="0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b="0" strike="noStrike" spc="-1" dirty="0">
                <a:latin typeface="Arial"/>
              </a:rPr>
              <a:t>C</a:t>
            </a: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64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392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19"/>
            <a:ext cx="2960100" cy="6652316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64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2048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2048 * 4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2048 * 32 / 1024 = 64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2048 / 1024 = 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latin typeface="Arial"/>
              </a:rPr>
              <a:t>Y2 = 32 / 1024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38362" y="3639936"/>
            <a:ext cx="2960100" cy="3218064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32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37655" y="6857041"/>
            <a:ext cx="2960807" cy="80188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8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5" name="CustomShape 10">
            <a:extLst>
              <a:ext uri="{FF2B5EF4-FFF2-40B4-BE49-F238E27FC236}">
                <a16:creationId xmlns:a16="http://schemas.microsoft.com/office/drawing/2014/main" id="{FCD1D699-5A6E-FD49-B965-33D77D9267C5}"/>
              </a:ext>
            </a:extLst>
          </p:cNvPr>
          <p:cNvSpPr/>
          <p:nvPr/>
        </p:nvSpPr>
        <p:spPr>
          <a:xfrm>
            <a:off x="900338" y="666885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0x9000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6" name="CustomShape 10">
            <a:extLst>
              <a:ext uri="{FF2B5EF4-FFF2-40B4-BE49-F238E27FC236}">
                <a16:creationId xmlns:a16="http://schemas.microsoft.com/office/drawing/2014/main" id="{FA0D4C27-F590-7245-9DB0-CBDBC1392F61}"/>
              </a:ext>
            </a:extLst>
          </p:cNvPr>
          <p:cNvSpPr/>
          <p:nvPr/>
        </p:nvSpPr>
        <p:spPr>
          <a:xfrm>
            <a:off x="900338" y="746074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0xA000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7" name="Group 15">
            <a:extLst>
              <a:ext uri="{FF2B5EF4-FFF2-40B4-BE49-F238E27FC236}">
                <a16:creationId xmlns:a16="http://schemas.microsoft.com/office/drawing/2014/main" id="{745FD81F-8280-B94F-AE30-A1FE0C68F37C}"/>
              </a:ext>
            </a:extLst>
          </p:cNvPr>
          <p:cNvGrpSpPr/>
          <p:nvPr/>
        </p:nvGrpSpPr>
        <p:grpSpPr>
          <a:xfrm>
            <a:off x="1904378" y="9885955"/>
            <a:ext cx="2960807" cy="367878"/>
            <a:chOff x="3652920" y="3623040"/>
            <a:chExt cx="1643040" cy="304200"/>
          </a:xfrm>
        </p:grpSpPr>
        <p:sp>
          <p:nvSpPr>
            <p:cNvPr id="28" name="CustomShape 16">
              <a:extLst>
                <a:ext uri="{FF2B5EF4-FFF2-40B4-BE49-F238E27FC236}">
                  <a16:creationId xmlns:a16="http://schemas.microsoft.com/office/drawing/2014/main" id="{72D667FC-49DD-944A-A141-AB33B241E56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9" name="CustomShape 17">
              <a:extLst>
                <a:ext uri="{FF2B5EF4-FFF2-40B4-BE49-F238E27FC236}">
                  <a16:creationId xmlns:a16="http://schemas.microsoft.com/office/drawing/2014/main" id="{4A7E51B9-02E6-AF4A-8E34-11C53A36365C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19485" y="7663269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3" name="CustomShape 10">
            <a:extLst>
              <a:ext uri="{FF2B5EF4-FFF2-40B4-BE49-F238E27FC236}">
                <a16:creationId xmlns:a16="http://schemas.microsoft.com/office/drawing/2014/main" id="{1DB9CCCC-22E6-E44A-8BFB-34336D00A580}"/>
              </a:ext>
            </a:extLst>
          </p:cNvPr>
          <p:cNvSpPr/>
          <p:nvPr/>
        </p:nvSpPr>
        <p:spPr>
          <a:xfrm>
            <a:off x="904262" y="790952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0x0A20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594" y="8135472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0" name="CustomShape 10">
            <a:extLst>
              <a:ext uri="{FF2B5EF4-FFF2-40B4-BE49-F238E27FC236}">
                <a16:creationId xmlns:a16="http://schemas.microsoft.com/office/drawing/2014/main" id="{DDE634DB-B71E-114C-B04B-1C51487BBF5F}"/>
              </a:ext>
            </a:extLst>
          </p:cNvPr>
          <p:cNvSpPr/>
          <p:nvPr/>
        </p:nvSpPr>
        <p:spPr>
          <a:xfrm>
            <a:off x="928846" y="838083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19485" y="8626191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32 / 1024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4205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spc="-1" dirty="0">
                <a:latin typeface="Arial"/>
              </a:rPr>
              <a:t>P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64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2448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0.125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/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6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68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70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494574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0x00C0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939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Router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9345597" y="6350895"/>
            <a:ext cx="5691965" cy="1014209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Core1到Core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63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将数据发给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Core0</a:t>
            </a:r>
            <a:endParaRPr lang="en-US" altLang="zh-CN" sz="3000" spc="-1" dirty="0">
              <a:solidFill>
                <a:srgbClr val="000000"/>
              </a:solidFill>
              <a:latin typeface="Arial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Arial"/>
                <a:ea typeface="等线"/>
              </a:rPr>
              <a:t>63 * 32 * 4 / 8 = 1008</a:t>
            </a:r>
            <a:endParaRPr lang="en-US" altLang="zh-CN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573B28D-4964-C649-BF83-D282B633D946}"/>
              </a:ext>
            </a:extLst>
          </p:cNvPr>
          <p:cNvSpPr/>
          <p:nvPr/>
        </p:nvSpPr>
        <p:spPr>
          <a:xfrm>
            <a:off x="150982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Core0</a:t>
            </a:r>
            <a:endParaRPr kumimoji="1" lang="zh-CN" altLang="en-US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EA4EB5F-2D09-914B-B012-9871B3044459}"/>
              </a:ext>
            </a:extLst>
          </p:cNvPr>
          <p:cNvSpPr/>
          <p:nvPr/>
        </p:nvSpPr>
        <p:spPr>
          <a:xfrm>
            <a:off x="378873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endParaRPr kumimoji="1"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6F71C79-DA5E-AA4D-82BE-9A3EB0E94B5B}"/>
              </a:ext>
            </a:extLst>
          </p:cNvPr>
          <p:cNvSpPr/>
          <p:nvPr/>
        </p:nvSpPr>
        <p:spPr>
          <a:xfrm>
            <a:off x="6067645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Core2</a:t>
            </a:r>
            <a:endParaRPr kumimoji="1"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592ADCA-6D58-5E42-8DC0-8BB8F4B9C72B}"/>
              </a:ext>
            </a:extLst>
          </p:cNvPr>
          <p:cNvSpPr/>
          <p:nvPr/>
        </p:nvSpPr>
        <p:spPr>
          <a:xfrm>
            <a:off x="8346556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Core3</a:t>
            </a:r>
            <a:endParaRPr kumimoji="1"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7B1F8C6-2B52-984C-AF5D-8BD71A8FFE09}"/>
              </a:ext>
            </a:extLst>
          </p:cNvPr>
          <p:cNvSpPr/>
          <p:nvPr/>
        </p:nvSpPr>
        <p:spPr>
          <a:xfrm>
            <a:off x="14038521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Core12</a:t>
            </a:r>
            <a:endParaRPr kumimoji="1" lang="zh-CN" altLang="en-US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045F2D5-93DC-F549-989E-ECABB39DCF04}"/>
              </a:ext>
            </a:extLst>
          </p:cNvPr>
          <p:cNvSpPr/>
          <p:nvPr/>
        </p:nvSpPr>
        <p:spPr>
          <a:xfrm>
            <a:off x="16317432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Core13</a:t>
            </a:r>
            <a:endParaRPr kumimoji="1" lang="zh-CN" altLang="en-US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C963C899-3049-134E-83D0-EDDDF906A70F}"/>
              </a:ext>
            </a:extLst>
          </p:cNvPr>
          <p:cNvSpPr/>
          <p:nvPr/>
        </p:nvSpPr>
        <p:spPr>
          <a:xfrm>
            <a:off x="1859634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Core14</a:t>
            </a:r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74E9752-8C40-DB4B-92BC-B79EC214C252}"/>
              </a:ext>
            </a:extLst>
          </p:cNvPr>
          <p:cNvSpPr/>
          <p:nvPr/>
        </p:nvSpPr>
        <p:spPr>
          <a:xfrm>
            <a:off x="2087525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r>
              <a:rPr kumimoji="1" lang="en-US" altLang="zh-CN" dirty="0"/>
              <a:t>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561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0.125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64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8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/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5"/>
            <a:ext cx="2960807" cy="1107315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68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70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742F755C-E53F-2247-B294-6350557A1A9F}"/>
              </a:ext>
            </a:extLst>
          </p:cNvPr>
          <p:cNvSpPr/>
          <p:nvPr/>
        </p:nvSpPr>
        <p:spPr>
          <a:xfrm>
            <a:off x="933791" y="56802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7" name="Group 12">
            <a:extLst>
              <a:ext uri="{FF2B5EF4-FFF2-40B4-BE49-F238E27FC236}">
                <a16:creationId xmlns:a16="http://schemas.microsoft.com/office/drawing/2014/main" id="{B23E0DF7-4409-1248-9659-D4F98DB6A687}"/>
              </a:ext>
            </a:extLst>
          </p:cNvPr>
          <p:cNvGrpSpPr/>
          <p:nvPr/>
        </p:nvGrpSpPr>
        <p:grpSpPr>
          <a:xfrm>
            <a:off x="1937831" y="5752035"/>
            <a:ext cx="2960100" cy="490719"/>
            <a:chOff x="6494040" y="3629520"/>
            <a:chExt cx="1643040" cy="4589640"/>
          </a:xfrm>
        </p:grpSpPr>
        <p:sp>
          <p:nvSpPr>
            <p:cNvPr id="58" name="CustomShape 13">
              <a:extLst>
                <a:ext uri="{FF2B5EF4-FFF2-40B4-BE49-F238E27FC236}">
                  <a16:creationId xmlns:a16="http://schemas.microsoft.com/office/drawing/2014/main" id="{3460F93F-5378-5C4D-92E9-9543094A4C1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C32520EB-4F26-274F-BC73-86D50EF7E32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/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1024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8075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b="0" strike="noStrike" spc="-1" dirty="0">
                <a:latin typeface="Arial"/>
              </a:rPr>
              <a:t>L-C</a:t>
            </a: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64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5616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08086" y="5682468"/>
            <a:ext cx="2960100" cy="281162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1024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16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1024 * 4 / 1024 =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150712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5142987"/>
            <a:ext cx="2960807" cy="58323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/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6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24100" y="8476100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494574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0x00C0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E4082A8B-E180-AF45-BFB8-5F14AC639D56}"/>
              </a:ext>
            </a:extLst>
          </p:cNvPr>
          <p:cNvSpPr/>
          <p:nvPr/>
        </p:nvSpPr>
        <p:spPr>
          <a:xfrm>
            <a:off x="5520060" y="492087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altLang="zh-CN" b="0" strike="noStrike" spc="-1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>
                <a:solidFill>
                  <a:srgbClr val="000000"/>
                </a:solidFill>
                <a:latin typeface="等线"/>
                <a:ea typeface="等线"/>
              </a:rPr>
              <a:t>000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57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b="0" strike="noStrike" spc="-1" dirty="0">
                <a:latin typeface="Arial"/>
              </a:rPr>
              <a:t>L-P</a:t>
            </a: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32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2050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spc="-1" dirty="0">
                  <a:solidFill>
                    <a:srgbClr val="000000"/>
                  </a:solidFill>
                  <a:latin typeface="Arial"/>
                  <a:ea typeface="等线"/>
                </a:rPr>
                <a:t>2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64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1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64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0.25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64 * 32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64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64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/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6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50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D8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0x0060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494574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0x00E0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164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Router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9345597" y="6350895"/>
            <a:ext cx="5691965" cy="1014209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Core1到Core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63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将数据发给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Core0</a:t>
            </a:r>
            <a:endParaRPr lang="en-US" altLang="zh-CN" sz="3000" spc="-1" dirty="0">
              <a:solidFill>
                <a:srgbClr val="000000"/>
              </a:solidFill>
              <a:latin typeface="Arial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Arial"/>
                <a:ea typeface="等线"/>
              </a:rPr>
              <a:t>63 * 32 * 4 / 8 = 1008</a:t>
            </a:r>
            <a:endParaRPr lang="en-US" altLang="zh-CN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573B28D-4964-C649-BF83-D282B633D946}"/>
              </a:ext>
            </a:extLst>
          </p:cNvPr>
          <p:cNvSpPr/>
          <p:nvPr/>
        </p:nvSpPr>
        <p:spPr>
          <a:xfrm>
            <a:off x="150982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Core0</a:t>
            </a:r>
            <a:endParaRPr kumimoji="1" lang="zh-CN" altLang="en-US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EA4EB5F-2D09-914B-B012-9871B3044459}"/>
              </a:ext>
            </a:extLst>
          </p:cNvPr>
          <p:cNvSpPr/>
          <p:nvPr/>
        </p:nvSpPr>
        <p:spPr>
          <a:xfrm>
            <a:off x="378873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endParaRPr kumimoji="1"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6F71C79-DA5E-AA4D-82BE-9A3EB0E94B5B}"/>
              </a:ext>
            </a:extLst>
          </p:cNvPr>
          <p:cNvSpPr/>
          <p:nvPr/>
        </p:nvSpPr>
        <p:spPr>
          <a:xfrm>
            <a:off x="6067645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Core2</a:t>
            </a:r>
            <a:endParaRPr kumimoji="1"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592ADCA-6D58-5E42-8DC0-8BB8F4B9C72B}"/>
              </a:ext>
            </a:extLst>
          </p:cNvPr>
          <p:cNvSpPr/>
          <p:nvPr/>
        </p:nvSpPr>
        <p:spPr>
          <a:xfrm>
            <a:off x="8346556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Core3</a:t>
            </a:r>
            <a:endParaRPr kumimoji="1"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7B1F8C6-2B52-984C-AF5D-8BD71A8FFE09}"/>
              </a:ext>
            </a:extLst>
          </p:cNvPr>
          <p:cNvSpPr/>
          <p:nvPr/>
        </p:nvSpPr>
        <p:spPr>
          <a:xfrm>
            <a:off x="14038521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Core12</a:t>
            </a:r>
            <a:endParaRPr kumimoji="1" lang="zh-CN" altLang="en-US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045F2D5-93DC-F549-989E-ECABB39DCF04}"/>
              </a:ext>
            </a:extLst>
          </p:cNvPr>
          <p:cNvSpPr/>
          <p:nvPr/>
        </p:nvSpPr>
        <p:spPr>
          <a:xfrm>
            <a:off x="16317432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Core13</a:t>
            </a:r>
            <a:endParaRPr kumimoji="1" lang="zh-CN" altLang="en-US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C963C899-3049-134E-83D0-EDDDF906A70F}"/>
              </a:ext>
            </a:extLst>
          </p:cNvPr>
          <p:cNvSpPr/>
          <p:nvPr/>
        </p:nvSpPr>
        <p:spPr>
          <a:xfrm>
            <a:off x="1859634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Core14</a:t>
            </a:r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74E9752-8C40-DB4B-92BC-B79EC214C252}"/>
              </a:ext>
            </a:extLst>
          </p:cNvPr>
          <p:cNvSpPr/>
          <p:nvPr/>
        </p:nvSpPr>
        <p:spPr>
          <a:xfrm>
            <a:off x="2087525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r>
              <a:rPr kumimoji="1" lang="en-US" altLang="zh-CN" dirty="0"/>
              <a:t>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7432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0.125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64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8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/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5"/>
            <a:ext cx="2960807" cy="1107315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68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70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742F755C-E53F-2247-B294-6350557A1A9F}"/>
              </a:ext>
            </a:extLst>
          </p:cNvPr>
          <p:cNvSpPr/>
          <p:nvPr/>
        </p:nvSpPr>
        <p:spPr>
          <a:xfrm>
            <a:off x="933791" y="56802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7" name="Group 12">
            <a:extLst>
              <a:ext uri="{FF2B5EF4-FFF2-40B4-BE49-F238E27FC236}">
                <a16:creationId xmlns:a16="http://schemas.microsoft.com/office/drawing/2014/main" id="{B23E0DF7-4409-1248-9659-D4F98DB6A687}"/>
              </a:ext>
            </a:extLst>
          </p:cNvPr>
          <p:cNvGrpSpPr/>
          <p:nvPr/>
        </p:nvGrpSpPr>
        <p:grpSpPr>
          <a:xfrm>
            <a:off x="1937831" y="5752035"/>
            <a:ext cx="2960100" cy="490719"/>
            <a:chOff x="6494040" y="3629520"/>
            <a:chExt cx="1643040" cy="4589640"/>
          </a:xfrm>
        </p:grpSpPr>
        <p:sp>
          <p:nvSpPr>
            <p:cNvPr id="58" name="CustomShape 13">
              <a:extLst>
                <a:ext uri="{FF2B5EF4-FFF2-40B4-BE49-F238E27FC236}">
                  <a16:creationId xmlns:a16="http://schemas.microsoft.com/office/drawing/2014/main" id="{3460F93F-5378-5C4D-92E9-9543094A4C1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C32520EB-4F26-274F-BC73-86D50EF7E32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/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1024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2860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b="0" strike="noStrike" spc="-1" dirty="0">
                <a:latin typeface="Arial"/>
              </a:rPr>
              <a:t>1 MLP 16 cores</a:t>
            </a:r>
          </a:p>
        </p:txBody>
      </p:sp>
    </p:spTree>
    <p:extLst>
      <p:ext uri="{BB962C8B-B14F-4D97-AF65-F5344CB8AC3E}">
        <p14:creationId xmlns:p14="http://schemas.microsoft.com/office/powerpoint/2010/main" val="3927809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Arial"/>
                  <a:ea typeface="等线"/>
                </a:rPr>
                <a:t>4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128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128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128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128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6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0x10A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0x11A00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0x11A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A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494574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0x0120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2378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Router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9345597" y="6350895"/>
            <a:ext cx="5691965" cy="1014209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Core1到Core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63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将数据发给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Core0</a:t>
            </a:r>
            <a:endParaRPr lang="en-US" altLang="zh-CN" sz="3000" spc="-1" dirty="0">
              <a:solidFill>
                <a:srgbClr val="000000"/>
              </a:solidFill>
              <a:latin typeface="Arial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Arial"/>
                <a:ea typeface="等线"/>
              </a:rPr>
              <a:t>63 * 32 * 4 / 8 = 1008</a:t>
            </a:r>
            <a:endParaRPr lang="en-US" altLang="zh-CN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573B28D-4964-C649-BF83-D282B633D946}"/>
              </a:ext>
            </a:extLst>
          </p:cNvPr>
          <p:cNvSpPr/>
          <p:nvPr/>
        </p:nvSpPr>
        <p:spPr>
          <a:xfrm>
            <a:off x="150982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Core0</a:t>
            </a:r>
            <a:endParaRPr kumimoji="1" lang="zh-CN" altLang="en-US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EA4EB5F-2D09-914B-B012-9871B3044459}"/>
              </a:ext>
            </a:extLst>
          </p:cNvPr>
          <p:cNvSpPr/>
          <p:nvPr/>
        </p:nvSpPr>
        <p:spPr>
          <a:xfrm>
            <a:off x="378873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endParaRPr kumimoji="1"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6F71C79-DA5E-AA4D-82BE-9A3EB0E94B5B}"/>
              </a:ext>
            </a:extLst>
          </p:cNvPr>
          <p:cNvSpPr/>
          <p:nvPr/>
        </p:nvSpPr>
        <p:spPr>
          <a:xfrm>
            <a:off x="6067645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Core2</a:t>
            </a:r>
            <a:endParaRPr kumimoji="1"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592ADCA-6D58-5E42-8DC0-8BB8F4B9C72B}"/>
              </a:ext>
            </a:extLst>
          </p:cNvPr>
          <p:cNvSpPr/>
          <p:nvPr/>
        </p:nvSpPr>
        <p:spPr>
          <a:xfrm>
            <a:off x="8346556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Core3</a:t>
            </a:r>
            <a:endParaRPr kumimoji="1"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7B1F8C6-2B52-984C-AF5D-8BD71A8FFE09}"/>
              </a:ext>
            </a:extLst>
          </p:cNvPr>
          <p:cNvSpPr/>
          <p:nvPr/>
        </p:nvSpPr>
        <p:spPr>
          <a:xfrm>
            <a:off x="14038521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Core12</a:t>
            </a:r>
            <a:endParaRPr kumimoji="1" lang="zh-CN" altLang="en-US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045F2D5-93DC-F549-989E-ECABB39DCF04}"/>
              </a:ext>
            </a:extLst>
          </p:cNvPr>
          <p:cNvSpPr/>
          <p:nvPr/>
        </p:nvSpPr>
        <p:spPr>
          <a:xfrm>
            <a:off x="16317432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Core13</a:t>
            </a:r>
            <a:endParaRPr kumimoji="1" lang="zh-CN" altLang="en-US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C963C899-3049-134E-83D0-EDDDF906A70F}"/>
              </a:ext>
            </a:extLst>
          </p:cNvPr>
          <p:cNvSpPr/>
          <p:nvPr/>
        </p:nvSpPr>
        <p:spPr>
          <a:xfrm>
            <a:off x="1859634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Core14</a:t>
            </a:r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74E9752-8C40-DB4B-92BC-B79EC214C252}"/>
              </a:ext>
            </a:extLst>
          </p:cNvPr>
          <p:cNvSpPr/>
          <p:nvPr/>
        </p:nvSpPr>
        <p:spPr>
          <a:xfrm>
            <a:off x="2087525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r>
              <a:rPr kumimoji="1" lang="en-US" altLang="zh-CN" dirty="0"/>
              <a:t>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4830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0.125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64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8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/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5"/>
            <a:ext cx="2960807" cy="1107315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68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70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742F755C-E53F-2247-B294-6350557A1A9F}"/>
              </a:ext>
            </a:extLst>
          </p:cNvPr>
          <p:cNvSpPr/>
          <p:nvPr/>
        </p:nvSpPr>
        <p:spPr>
          <a:xfrm>
            <a:off x="933791" y="56802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7" name="Group 12">
            <a:extLst>
              <a:ext uri="{FF2B5EF4-FFF2-40B4-BE49-F238E27FC236}">
                <a16:creationId xmlns:a16="http://schemas.microsoft.com/office/drawing/2014/main" id="{B23E0DF7-4409-1248-9659-D4F98DB6A687}"/>
              </a:ext>
            </a:extLst>
          </p:cNvPr>
          <p:cNvGrpSpPr/>
          <p:nvPr/>
        </p:nvGrpSpPr>
        <p:grpSpPr>
          <a:xfrm>
            <a:off x="1937831" y="5752035"/>
            <a:ext cx="2960100" cy="490719"/>
            <a:chOff x="6494040" y="3629520"/>
            <a:chExt cx="1643040" cy="4589640"/>
          </a:xfrm>
        </p:grpSpPr>
        <p:sp>
          <p:nvSpPr>
            <p:cNvPr id="58" name="CustomShape 13">
              <a:extLst>
                <a:ext uri="{FF2B5EF4-FFF2-40B4-BE49-F238E27FC236}">
                  <a16:creationId xmlns:a16="http://schemas.microsoft.com/office/drawing/2014/main" id="{3460F93F-5378-5C4D-92E9-9543094A4C1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C32520EB-4F26-274F-BC73-86D50EF7E32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/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1024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6528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b="0" strike="noStrike" spc="-1" dirty="0">
                <a:latin typeface="Arial"/>
              </a:rPr>
              <a:t>1 MLP 8 cores</a:t>
            </a:r>
          </a:p>
        </p:txBody>
      </p:sp>
    </p:spTree>
    <p:extLst>
      <p:ext uri="{BB962C8B-B14F-4D97-AF65-F5344CB8AC3E}">
        <p14:creationId xmlns:p14="http://schemas.microsoft.com/office/powerpoint/2010/main" val="4061747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Arial"/>
                  <a:ea typeface="等线"/>
                </a:rPr>
                <a:t>8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256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256 * 4 / 1024 = 1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256 * 32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256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0.25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6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0x114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0x13400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0x134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0x0120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494574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0x01A0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8131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Router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9345597" y="6350895"/>
            <a:ext cx="5691965" cy="1014209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Core1到Core7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将数据发给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Core0</a:t>
            </a:r>
            <a:endParaRPr lang="en-US" altLang="zh-CN" sz="3000" spc="-1" dirty="0">
              <a:solidFill>
                <a:srgbClr val="000000"/>
              </a:solidFill>
              <a:latin typeface="Arial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Arial"/>
                <a:ea typeface="等线"/>
              </a:rPr>
              <a:t>7 * 32 * 4 / 8</a:t>
            </a:r>
            <a:endParaRPr lang="en-US" altLang="zh-CN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573B28D-4964-C649-BF83-D282B633D946}"/>
              </a:ext>
            </a:extLst>
          </p:cNvPr>
          <p:cNvSpPr/>
          <p:nvPr/>
        </p:nvSpPr>
        <p:spPr>
          <a:xfrm>
            <a:off x="150982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Core0</a:t>
            </a:r>
            <a:endParaRPr kumimoji="1" lang="zh-CN" altLang="en-US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EA4EB5F-2D09-914B-B012-9871B3044459}"/>
              </a:ext>
            </a:extLst>
          </p:cNvPr>
          <p:cNvSpPr/>
          <p:nvPr/>
        </p:nvSpPr>
        <p:spPr>
          <a:xfrm>
            <a:off x="378873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endParaRPr kumimoji="1"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6F71C79-DA5E-AA4D-82BE-9A3EB0E94B5B}"/>
              </a:ext>
            </a:extLst>
          </p:cNvPr>
          <p:cNvSpPr/>
          <p:nvPr/>
        </p:nvSpPr>
        <p:spPr>
          <a:xfrm>
            <a:off x="6067645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Core2</a:t>
            </a:r>
            <a:endParaRPr kumimoji="1"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592ADCA-6D58-5E42-8DC0-8BB8F4B9C72B}"/>
              </a:ext>
            </a:extLst>
          </p:cNvPr>
          <p:cNvSpPr/>
          <p:nvPr/>
        </p:nvSpPr>
        <p:spPr>
          <a:xfrm>
            <a:off x="8346556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Core3</a:t>
            </a:r>
            <a:endParaRPr kumimoji="1"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7B1F8C6-2B52-984C-AF5D-8BD71A8FFE09}"/>
              </a:ext>
            </a:extLst>
          </p:cNvPr>
          <p:cNvSpPr/>
          <p:nvPr/>
        </p:nvSpPr>
        <p:spPr>
          <a:xfrm>
            <a:off x="14038521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Core12</a:t>
            </a:r>
            <a:endParaRPr kumimoji="1" lang="zh-CN" altLang="en-US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045F2D5-93DC-F549-989E-ECABB39DCF04}"/>
              </a:ext>
            </a:extLst>
          </p:cNvPr>
          <p:cNvSpPr/>
          <p:nvPr/>
        </p:nvSpPr>
        <p:spPr>
          <a:xfrm>
            <a:off x="16317432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Core13</a:t>
            </a:r>
            <a:endParaRPr kumimoji="1" lang="zh-CN" altLang="en-US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C963C899-3049-134E-83D0-EDDDF906A70F}"/>
              </a:ext>
            </a:extLst>
          </p:cNvPr>
          <p:cNvSpPr/>
          <p:nvPr/>
        </p:nvSpPr>
        <p:spPr>
          <a:xfrm>
            <a:off x="1859634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Core14</a:t>
            </a:r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74E9752-8C40-DB4B-92BC-B79EC214C252}"/>
              </a:ext>
            </a:extLst>
          </p:cNvPr>
          <p:cNvSpPr/>
          <p:nvPr/>
        </p:nvSpPr>
        <p:spPr>
          <a:xfrm>
            <a:off x="2087525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r>
              <a:rPr kumimoji="1" lang="en-US" altLang="zh-CN" dirty="0"/>
              <a:t>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070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Arial"/>
                  <a:ea typeface="等线"/>
                </a:rPr>
                <a:t>8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256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256 * 4 / 1024 = 1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256 * 32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256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0.25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5"/>
            <a:ext cx="2960807" cy="815047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 * 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0x114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0x13400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0x134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0x0120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529951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0x0520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003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b="0" strike="noStrike" spc="-1" dirty="0">
                <a:latin typeface="Arial"/>
              </a:rPr>
              <a:t>1 MLP </a:t>
            </a:r>
            <a:r>
              <a:rPr lang="en-US" altLang="zh-CN" sz="11600" b="0" strike="noStrike" spc="-1" dirty="0">
                <a:latin typeface="Arial"/>
              </a:rPr>
              <a:t>4</a:t>
            </a:r>
            <a:r>
              <a:rPr lang="en-US" sz="11600" b="0" strike="noStrike" spc="-1" dirty="0">
                <a:latin typeface="Arial"/>
              </a:rPr>
              <a:t> cores</a:t>
            </a:r>
          </a:p>
        </p:txBody>
      </p:sp>
    </p:spTree>
    <p:extLst>
      <p:ext uri="{BB962C8B-B14F-4D97-AF65-F5344CB8AC3E}">
        <p14:creationId xmlns:p14="http://schemas.microsoft.com/office/powerpoint/2010/main" val="227333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Arial"/>
                  <a:ea typeface="等线"/>
                </a:rPr>
                <a:t>16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16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0.5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6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68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68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494574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A0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4320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Router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9345597" y="6350895"/>
            <a:ext cx="5691965" cy="1014209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Core1到Core7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将数据发给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Core0</a:t>
            </a:r>
            <a:endParaRPr lang="en-US" altLang="zh-CN" sz="3000" spc="-1" dirty="0">
              <a:solidFill>
                <a:srgbClr val="000000"/>
              </a:solidFill>
              <a:latin typeface="Arial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Arial"/>
                <a:ea typeface="等线"/>
              </a:rPr>
              <a:t>3 * 32 * 4 / 8</a:t>
            </a:r>
            <a:endParaRPr lang="en-US" altLang="zh-CN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573B28D-4964-C649-BF83-D282B633D946}"/>
              </a:ext>
            </a:extLst>
          </p:cNvPr>
          <p:cNvSpPr/>
          <p:nvPr/>
        </p:nvSpPr>
        <p:spPr>
          <a:xfrm>
            <a:off x="150982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Core0</a:t>
            </a:r>
            <a:endParaRPr kumimoji="1" lang="zh-CN" altLang="en-US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EA4EB5F-2D09-914B-B012-9871B3044459}"/>
              </a:ext>
            </a:extLst>
          </p:cNvPr>
          <p:cNvSpPr/>
          <p:nvPr/>
        </p:nvSpPr>
        <p:spPr>
          <a:xfrm>
            <a:off x="378873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endParaRPr kumimoji="1"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6F71C79-DA5E-AA4D-82BE-9A3EB0E94B5B}"/>
              </a:ext>
            </a:extLst>
          </p:cNvPr>
          <p:cNvSpPr/>
          <p:nvPr/>
        </p:nvSpPr>
        <p:spPr>
          <a:xfrm>
            <a:off x="6067645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Core2</a:t>
            </a:r>
            <a:endParaRPr kumimoji="1"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592ADCA-6D58-5E42-8DC0-8BB8F4B9C72B}"/>
              </a:ext>
            </a:extLst>
          </p:cNvPr>
          <p:cNvSpPr/>
          <p:nvPr/>
        </p:nvSpPr>
        <p:spPr>
          <a:xfrm>
            <a:off x="8346556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Core3</a:t>
            </a:r>
            <a:endParaRPr kumimoji="1"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7B1F8C6-2B52-984C-AF5D-8BD71A8FFE09}"/>
              </a:ext>
            </a:extLst>
          </p:cNvPr>
          <p:cNvSpPr/>
          <p:nvPr/>
        </p:nvSpPr>
        <p:spPr>
          <a:xfrm>
            <a:off x="14038521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Core12</a:t>
            </a:r>
            <a:endParaRPr kumimoji="1" lang="zh-CN" altLang="en-US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045F2D5-93DC-F549-989E-ECABB39DCF04}"/>
              </a:ext>
            </a:extLst>
          </p:cNvPr>
          <p:cNvSpPr/>
          <p:nvPr/>
        </p:nvSpPr>
        <p:spPr>
          <a:xfrm>
            <a:off x="16317432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Core13</a:t>
            </a:r>
            <a:endParaRPr kumimoji="1" lang="zh-CN" altLang="en-US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C963C899-3049-134E-83D0-EDDDF906A70F}"/>
              </a:ext>
            </a:extLst>
          </p:cNvPr>
          <p:cNvSpPr/>
          <p:nvPr/>
        </p:nvSpPr>
        <p:spPr>
          <a:xfrm>
            <a:off x="1859634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Core14</a:t>
            </a:r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74E9752-8C40-DB4B-92BC-B79EC214C252}"/>
              </a:ext>
            </a:extLst>
          </p:cNvPr>
          <p:cNvSpPr/>
          <p:nvPr/>
        </p:nvSpPr>
        <p:spPr>
          <a:xfrm>
            <a:off x="2087525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r>
              <a:rPr kumimoji="1" lang="en-US" altLang="zh-CN" dirty="0"/>
              <a:t>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0471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24100" y="4481133"/>
            <a:ext cx="2960100" cy="635358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Arial"/>
                  <a:ea typeface="等线"/>
                </a:rPr>
                <a:t>16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16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0.5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499143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8086" y="4106218"/>
            <a:ext cx="2960807" cy="367878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6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08086" y="5099986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39926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43256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48540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68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52958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68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494574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42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1704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spc="-1" dirty="0">
                <a:latin typeface="Arial"/>
              </a:rPr>
              <a:t>4</a:t>
            </a:r>
            <a:r>
              <a:rPr lang="en-US" sz="11600" b="0" strike="noStrike" spc="-1" dirty="0">
                <a:latin typeface="Arial"/>
              </a:rPr>
              <a:t> MLP </a:t>
            </a:r>
            <a:r>
              <a:rPr lang="en-US" sz="11600" spc="-1" dirty="0">
                <a:latin typeface="Arial"/>
              </a:rPr>
              <a:t>8</a:t>
            </a:r>
            <a:r>
              <a:rPr lang="en-US" sz="11600" b="0" strike="noStrike" spc="-1" dirty="0">
                <a:latin typeface="Arial"/>
              </a:rPr>
              <a:t> cores</a:t>
            </a:r>
          </a:p>
        </p:txBody>
      </p:sp>
    </p:spTree>
    <p:extLst>
      <p:ext uri="{BB962C8B-B14F-4D97-AF65-F5344CB8AC3E}">
        <p14:creationId xmlns:p14="http://schemas.microsoft.com/office/powerpoint/2010/main" val="3581875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08086" y="5829782"/>
            <a:ext cx="2960100" cy="2808734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Arial"/>
                  <a:ea typeface="等线"/>
                </a:rPr>
                <a:t>32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1024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16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1024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4 / 1024 =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1024 * 32 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1024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168300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24100" y="5300525"/>
            <a:ext cx="2960807" cy="521401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6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24100" y="8620160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510873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564565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500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844539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D0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88368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D08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494574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A0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3854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部分和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08086" y="5829782"/>
            <a:ext cx="2960100" cy="2808734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Arial"/>
                  <a:ea typeface="等线"/>
                </a:rPr>
                <a:t>32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16 * 1024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16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1024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4 / 1024 =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/ 1024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1024 * 32 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1024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 = 0.125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168300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24100" y="5300525"/>
            <a:ext cx="2960807" cy="521401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36787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 / 1024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1920192" y="4157131"/>
            <a:ext cx="2960100" cy="490719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0192" y="4646286"/>
            <a:ext cx="2960807" cy="450644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24100" y="8620160"/>
            <a:ext cx="2960807" cy="367878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510873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84702B7B-7B1B-FE46-B55E-4598B8DC7579}"/>
              </a:ext>
            </a:extLst>
          </p:cNvPr>
          <p:cNvSpPr/>
          <p:nvPr/>
        </p:nvSpPr>
        <p:spPr>
          <a:xfrm>
            <a:off x="5520060" y="564565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500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7" name="CustomShape 10">
            <a:extLst>
              <a:ext uri="{FF2B5EF4-FFF2-40B4-BE49-F238E27FC236}">
                <a16:creationId xmlns:a16="http://schemas.microsoft.com/office/drawing/2014/main" id="{E4C50F8C-1761-D640-90B9-848B533E434F}"/>
              </a:ext>
            </a:extLst>
          </p:cNvPr>
          <p:cNvSpPr/>
          <p:nvPr/>
        </p:nvSpPr>
        <p:spPr>
          <a:xfrm>
            <a:off x="5520060" y="844539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D0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5A5C1A42-C870-A543-A9D5-D571ACC574B1}"/>
              </a:ext>
            </a:extLst>
          </p:cNvPr>
          <p:cNvSpPr/>
          <p:nvPr/>
        </p:nvSpPr>
        <p:spPr>
          <a:xfrm>
            <a:off x="5520060" y="88368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D08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2" name="CustomShape 10">
            <a:extLst>
              <a:ext uri="{FF2B5EF4-FFF2-40B4-BE49-F238E27FC236}">
                <a16:creationId xmlns:a16="http://schemas.microsoft.com/office/drawing/2014/main" id="{E5245A87-40DE-B848-9EED-89DDCE1F4CA3}"/>
              </a:ext>
            </a:extLst>
          </p:cNvPr>
          <p:cNvSpPr/>
          <p:nvPr/>
        </p:nvSpPr>
        <p:spPr>
          <a:xfrm>
            <a:off x="933791" y="39327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A97A5037-8653-CC42-A17F-828F3AEB4C7E}"/>
              </a:ext>
            </a:extLst>
          </p:cNvPr>
          <p:cNvSpPr/>
          <p:nvPr/>
        </p:nvSpPr>
        <p:spPr>
          <a:xfrm>
            <a:off x="933791" y="44892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494574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A0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1606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spc="-1" dirty="0">
                <a:latin typeface="Arial"/>
              </a:rPr>
              <a:t>1 </a:t>
            </a:r>
            <a:r>
              <a:rPr lang="en-US" sz="11600" spc="-1" dirty="0" err="1">
                <a:latin typeface="Arial"/>
              </a:rPr>
              <a:t>ConvNet</a:t>
            </a:r>
            <a:r>
              <a:rPr lang="en-US" sz="11600" spc="-1" dirty="0">
                <a:latin typeface="Arial"/>
              </a:rPr>
              <a:t> 1</a:t>
            </a:r>
            <a:r>
              <a:rPr lang="en-US" sz="11600" b="0" strike="noStrike" spc="-1" dirty="0">
                <a:latin typeface="Arial"/>
              </a:rPr>
              <a:t> core</a:t>
            </a:r>
          </a:p>
        </p:txBody>
      </p:sp>
    </p:spTree>
    <p:extLst>
      <p:ext uri="{BB962C8B-B14F-4D97-AF65-F5344CB8AC3E}">
        <p14:creationId xmlns:p14="http://schemas.microsoft.com/office/powerpoint/2010/main" val="1939405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Conv1 1*1 16/32 + 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流水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ReLU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08086" y="4274145"/>
            <a:ext cx="2960100" cy="437763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1</a:t>
              </a: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5169192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 * 1 * 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16 *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32 * 32 / 1024 = 16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32 * 32 / 1024 = 1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Buffer1 = 1 * 32 * 32 * 4 / 1024 = 4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32 * 32 * 32 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Buffer2 = 1 * 32 * 32 * 4 / 1024 =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Y2 = 32 * 32 * 32 / 1024 = 32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36787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7379" y="3996028"/>
            <a:ext cx="2960807" cy="264084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166990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6508086" y="4957307"/>
            <a:ext cx="2960100" cy="1020852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2448" y="5300525"/>
            <a:ext cx="2960807" cy="3267742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32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24100" y="4695206"/>
            <a:ext cx="2960807" cy="264084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478714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509089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0x4000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6A06E169-CA72-3A48-9D4B-12DABBEA72CA}"/>
              </a:ext>
            </a:extLst>
          </p:cNvPr>
          <p:cNvSpPr/>
          <p:nvPr/>
        </p:nvSpPr>
        <p:spPr>
          <a:xfrm>
            <a:off x="5520060" y="380261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5" name="CustomShape 10">
            <a:extLst>
              <a:ext uri="{FF2B5EF4-FFF2-40B4-BE49-F238E27FC236}">
                <a16:creationId xmlns:a16="http://schemas.microsoft.com/office/drawing/2014/main" id="{E46F15A0-8878-8D46-A0A3-0833A371FAD8}"/>
              </a:ext>
            </a:extLst>
          </p:cNvPr>
          <p:cNvSpPr/>
          <p:nvPr/>
        </p:nvSpPr>
        <p:spPr>
          <a:xfrm>
            <a:off x="5520060" y="40549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6" name="CustomShape 10">
            <a:extLst>
              <a:ext uri="{FF2B5EF4-FFF2-40B4-BE49-F238E27FC236}">
                <a16:creationId xmlns:a16="http://schemas.microsoft.com/office/drawing/2014/main" id="{C7E2C326-8DF0-4049-821B-43C7FDCB36CB}"/>
              </a:ext>
            </a:extLst>
          </p:cNvPr>
          <p:cNvSpPr/>
          <p:nvPr/>
        </p:nvSpPr>
        <p:spPr>
          <a:xfrm>
            <a:off x="5520060" y="45277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7" name="CustomShape 10">
            <a:extLst>
              <a:ext uri="{FF2B5EF4-FFF2-40B4-BE49-F238E27FC236}">
                <a16:creationId xmlns:a16="http://schemas.microsoft.com/office/drawing/2014/main" id="{CB5F964D-2449-6F40-B679-6003AC8DB649}"/>
              </a:ext>
            </a:extLst>
          </p:cNvPr>
          <p:cNvSpPr/>
          <p:nvPr/>
        </p:nvSpPr>
        <p:spPr>
          <a:xfrm>
            <a:off x="933791" y="842091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0xC000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8" name="Group 12">
            <a:extLst>
              <a:ext uri="{FF2B5EF4-FFF2-40B4-BE49-F238E27FC236}">
                <a16:creationId xmlns:a16="http://schemas.microsoft.com/office/drawing/2014/main" id="{E2EEC5B1-9608-7949-AAE9-10EE601D9A75}"/>
              </a:ext>
            </a:extLst>
          </p:cNvPr>
          <p:cNvGrpSpPr/>
          <p:nvPr/>
        </p:nvGrpSpPr>
        <p:grpSpPr>
          <a:xfrm>
            <a:off x="1937831" y="8565087"/>
            <a:ext cx="2960100" cy="1020852"/>
            <a:chOff x="6494040" y="3629520"/>
            <a:chExt cx="1643040" cy="4589640"/>
          </a:xfrm>
        </p:grpSpPr>
        <p:sp>
          <p:nvSpPr>
            <p:cNvPr id="59" name="CustomShape 13">
              <a:extLst>
                <a:ext uri="{FF2B5EF4-FFF2-40B4-BE49-F238E27FC236}">
                  <a16:creationId xmlns:a16="http://schemas.microsoft.com/office/drawing/2014/main" id="{FEA80FBE-7533-3E43-B399-383DE267F81A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3" name="CustomShape 14">
              <a:extLst>
                <a:ext uri="{FF2B5EF4-FFF2-40B4-BE49-F238E27FC236}">
                  <a16:creationId xmlns:a16="http://schemas.microsoft.com/office/drawing/2014/main" id="{23BAA176-E5DC-7049-82A8-E13AB6CFA65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306A8FF8-F751-254A-9983-FE2144E4EB61}"/>
              </a:ext>
            </a:extLst>
          </p:cNvPr>
          <p:cNvSpPr/>
          <p:nvPr/>
        </p:nvSpPr>
        <p:spPr>
          <a:xfrm>
            <a:off x="5520060" y="581787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17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5" name="Group 15">
            <a:extLst>
              <a:ext uri="{FF2B5EF4-FFF2-40B4-BE49-F238E27FC236}">
                <a16:creationId xmlns:a16="http://schemas.microsoft.com/office/drawing/2014/main" id="{BE569D08-8B0D-7F47-8753-F1627035A84F}"/>
              </a:ext>
            </a:extLst>
          </p:cNvPr>
          <p:cNvGrpSpPr/>
          <p:nvPr/>
        </p:nvGrpSpPr>
        <p:grpSpPr>
          <a:xfrm>
            <a:off x="6507167" y="5977234"/>
            <a:ext cx="2960807" cy="3267742"/>
            <a:chOff x="3652920" y="3623040"/>
            <a:chExt cx="1643040" cy="304200"/>
          </a:xfrm>
        </p:grpSpPr>
        <p:sp>
          <p:nvSpPr>
            <p:cNvPr id="66" name="CustomShape 16">
              <a:extLst>
                <a:ext uri="{FF2B5EF4-FFF2-40B4-BE49-F238E27FC236}">
                  <a16:creationId xmlns:a16="http://schemas.microsoft.com/office/drawing/2014/main" id="{3BEFDD56-DFEB-314C-9987-8A3C395DDE7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" name="CustomShape 17">
              <a:extLst>
                <a:ext uri="{FF2B5EF4-FFF2-40B4-BE49-F238E27FC236}">
                  <a16:creationId xmlns:a16="http://schemas.microsoft.com/office/drawing/2014/main" id="{275712A2-25C6-8746-8796-8CFA9A544CBA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32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8881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spc="-1" dirty="0">
                <a:latin typeface="Arial"/>
              </a:rPr>
              <a:t>1 </a:t>
            </a:r>
            <a:r>
              <a:rPr lang="en-US" sz="11600" spc="-1" dirty="0" err="1">
                <a:latin typeface="Arial"/>
              </a:rPr>
              <a:t>ConvNet</a:t>
            </a:r>
            <a:r>
              <a:rPr lang="en-US" sz="11600" spc="-1">
                <a:latin typeface="Arial"/>
              </a:rPr>
              <a:t> 1</a:t>
            </a:r>
            <a:r>
              <a:rPr lang="en-US" altLang="zh-CN" sz="11600" spc="-1">
                <a:latin typeface="Arial"/>
              </a:rPr>
              <a:t>28</a:t>
            </a:r>
            <a:r>
              <a:rPr lang="en-US" sz="11600" b="0" strike="noStrike" spc="-1">
                <a:latin typeface="Arial"/>
              </a:rPr>
              <a:t> cores</a:t>
            </a:r>
            <a:endParaRPr lang="en-US" sz="1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3724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Conv1 1*1 16/32 + 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流水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ReLU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508086" y="4274145"/>
            <a:ext cx="2960100" cy="437763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1</a:t>
              </a: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5169192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 * 1 * 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16 *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16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32 * 32 / 1024 = 16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32 * 32 / 1024 = 1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Buffer1 = 1 * 32 * 32 * 4 / 1024 = 4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32 * 32 * 32 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Buffer2 = 1 * 32 * 32 * 4 / 1024 =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Y2 = 32 * 32 * 32 / 1024 = 32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508086" y="3630617"/>
            <a:ext cx="2960100" cy="36787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507379" y="3996028"/>
            <a:ext cx="2960807" cy="264084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47266D00-78C7-2247-9FBF-CDE6D740705E}"/>
              </a:ext>
            </a:extLst>
          </p:cNvPr>
          <p:cNvGrpSpPr/>
          <p:nvPr/>
        </p:nvGrpSpPr>
        <p:grpSpPr>
          <a:xfrm>
            <a:off x="1938008" y="3630617"/>
            <a:ext cx="2960100" cy="166990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DDE5238-72FD-7D4C-AF86-B53B44B1678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33B90A55-6F5A-7843-A86C-833335F9777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73373550-188D-924B-B0F6-3F7CD46E3074}"/>
              </a:ext>
            </a:extLst>
          </p:cNvPr>
          <p:cNvGrpSpPr/>
          <p:nvPr/>
        </p:nvGrpSpPr>
        <p:grpSpPr>
          <a:xfrm>
            <a:off x="6508086" y="4957307"/>
            <a:ext cx="2960100" cy="1020852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C9EE873E-5634-3D46-8BF4-21C3AE62B37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994DEDDA-9F53-6A4E-87F2-62B43E49F3E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D4FE728B-8BE7-7E48-A8CF-6B54C29B0E3E}"/>
              </a:ext>
            </a:extLst>
          </p:cNvPr>
          <p:cNvGrpSpPr/>
          <p:nvPr/>
        </p:nvGrpSpPr>
        <p:grpSpPr>
          <a:xfrm>
            <a:off x="1922448" y="5300525"/>
            <a:ext cx="2960807" cy="3267742"/>
            <a:chOff x="3652920" y="3623040"/>
            <a:chExt cx="1643040" cy="304200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DC8566A9-85DF-904F-B228-C1E1F3A34218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2D1D61E9-6006-C44B-A8BD-FDA992C9CDA0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32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F93A8E8-B232-8244-9390-8A936047E681}"/>
              </a:ext>
            </a:extLst>
          </p:cNvPr>
          <p:cNvGrpSpPr/>
          <p:nvPr/>
        </p:nvGrpSpPr>
        <p:grpSpPr>
          <a:xfrm>
            <a:off x="6524100" y="4695206"/>
            <a:ext cx="2960807" cy="264084"/>
            <a:chOff x="3652920" y="3623040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B965EA2B-73E3-604E-8641-B55B258C79E4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7">
              <a:extLst>
                <a:ext uri="{FF2B5EF4-FFF2-40B4-BE49-F238E27FC236}">
                  <a16:creationId xmlns:a16="http://schemas.microsoft.com/office/drawing/2014/main" id="{351D5C48-51C0-E14C-B65A-40DBBEB083B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10">
            <a:extLst>
              <a:ext uri="{FF2B5EF4-FFF2-40B4-BE49-F238E27FC236}">
                <a16:creationId xmlns:a16="http://schemas.microsoft.com/office/drawing/2014/main" id="{D2B6E7AB-CD03-3C40-943E-7F8D0A6018F5}"/>
              </a:ext>
            </a:extLst>
          </p:cNvPr>
          <p:cNvSpPr/>
          <p:nvPr/>
        </p:nvSpPr>
        <p:spPr>
          <a:xfrm>
            <a:off x="5520060" y="478714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4" name="CustomShape 10">
            <a:extLst>
              <a:ext uri="{FF2B5EF4-FFF2-40B4-BE49-F238E27FC236}">
                <a16:creationId xmlns:a16="http://schemas.microsoft.com/office/drawing/2014/main" id="{7C97B905-63B0-F347-9992-A2FB0E673775}"/>
              </a:ext>
            </a:extLst>
          </p:cNvPr>
          <p:cNvSpPr/>
          <p:nvPr/>
        </p:nvSpPr>
        <p:spPr>
          <a:xfrm>
            <a:off x="933791" y="509089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0x4000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6A06E169-CA72-3A48-9D4B-12DABBEA72CA}"/>
              </a:ext>
            </a:extLst>
          </p:cNvPr>
          <p:cNvSpPr/>
          <p:nvPr/>
        </p:nvSpPr>
        <p:spPr>
          <a:xfrm>
            <a:off x="5520060" y="380261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5" name="CustomShape 10">
            <a:extLst>
              <a:ext uri="{FF2B5EF4-FFF2-40B4-BE49-F238E27FC236}">
                <a16:creationId xmlns:a16="http://schemas.microsoft.com/office/drawing/2014/main" id="{E46F15A0-8878-8D46-A0A3-0833A371FAD8}"/>
              </a:ext>
            </a:extLst>
          </p:cNvPr>
          <p:cNvSpPr/>
          <p:nvPr/>
        </p:nvSpPr>
        <p:spPr>
          <a:xfrm>
            <a:off x="5520060" y="40549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6" name="CustomShape 10">
            <a:extLst>
              <a:ext uri="{FF2B5EF4-FFF2-40B4-BE49-F238E27FC236}">
                <a16:creationId xmlns:a16="http://schemas.microsoft.com/office/drawing/2014/main" id="{C7E2C326-8DF0-4049-821B-43C7FDCB36CB}"/>
              </a:ext>
            </a:extLst>
          </p:cNvPr>
          <p:cNvSpPr/>
          <p:nvPr/>
        </p:nvSpPr>
        <p:spPr>
          <a:xfrm>
            <a:off x="5520060" y="45277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7" name="CustomShape 10">
            <a:extLst>
              <a:ext uri="{FF2B5EF4-FFF2-40B4-BE49-F238E27FC236}">
                <a16:creationId xmlns:a16="http://schemas.microsoft.com/office/drawing/2014/main" id="{CB5F964D-2449-6F40-B679-6003AC8DB649}"/>
              </a:ext>
            </a:extLst>
          </p:cNvPr>
          <p:cNvSpPr/>
          <p:nvPr/>
        </p:nvSpPr>
        <p:spPr>
          <a:xfrm>
            <a:off x="933791" y="842091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0xC000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8" name="Group 12">
            <a:extLst>
              <a:ext uri="{FF2B5EF4-FFF2-40B4-BE49-F238E27FC236}">
                <a16:creationId xmlns:a16="http://schemas.microsoft.com/office/drawing/2014/main" id="{E2EEC5B1-9608-7949-AAE9-10EE601D9A75}"/>
              </a:ext>
            </a:extLst>
          </p:cNvPr>
          <p:cNvGrpSpPr/>
          <p:nvPr/>
        </p:nvGrpSpPr>
        <p:grpSpPr>
          <a:xfrm>
            <a:off x="1937831" y="8565087"/>
            <a:ext cx="2960100" cy="1020852"/>
            <a:chOff x="6494040" y="3629520"/>
            <a:chExt cx="1643040" cy="4589640"/>
          </a:xfrm>
        </p:grpSpPr>
        <p:sp>
          <p:nvSpPr>
            <p:cNvPr id="59" name="CustomShape 13">
              <a:extLst>
                <a:ext uri="{FF2B5EF4-FFF2-40B4-BE49-F238E27FC236}">
                  <a16:creationId xmlns:a16="http://schemas.microsoft.com/office/drawing/2014/main" id="{FEA80FBE-7533-3E43-B399-383DE267F81A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3" name="CustomShape 14">
              <a:extLst>
                <a:ext uri="{FF2B5EF4-FFF2-40B4-BE49-F238E27FC236}">
                  <a16:creationId xmlns:a16="http://schemas.microsoft.com/office/drawing/2014/main" id="{23BAA176-E5DC-7049-82A8-E13AB6CFA65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306A8FF8-F751-254A-9983-FE2144E4EB61}"/>
              </a:ext>
            </a:extLst>
          </p:cNvPr>
          <p:cNvSpPr/>
          <p:nvPr/>
        </p:nvSpPr>
        <p:spPr>
          <a:xfrm>
            <a:off x="5520060" y="581787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17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5" name="Group 15">
            <a:extLst>
              <a:ext uri="{FF2B5EF4-FFF2-40B4-BE49-F238E27FC236}">
                <a16:creationId xmlns:a16="http://schemas.microsoft.com/office/drawing/2014/main" id="{BE569D08-8B0D-7F47-8753-F1627035A84F}"/>
              </a:ext>
            </a:extLst>
          </p:cNvPr>
          <p:cNvGrpSpPr/>
          <p:nvPr/>
        </p:nvGrpSpPr>
        <p:grpSpPr>
          <a:xfrm>
            <a:off x="6507167" y="5977234"/>
            <a:ext cx="2960807" cy="3267742"/>
            <a:chOff x="3652920" y="3623040"/>
            <a:chExt cx="1643040" cy="304200"/>
          </a:xfrm>
        </p:grpSpPr>
        <p:sp>
          <p:nvSpPr>
            <p:cNvPr id="66" name="CustomShape 16">
              <a:extLst>
                <a:ext uri="{FF2B5EF4-FFF2-40B4-BE49-F238E27FC236}">
                  <a16:creationId xmlns:a16="http://schemas.microsoft.com/office/drawing/2014/main" id="{3BEFDD56-DFEB-314C-9987-8A3C395DDE7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" name="CustomShape 17">
              <a:extLst>
                <a:ext uri="{FF2B5EF4-FFF2-40B4-BE49-F238E27FC236}">
                  <a16:creationId xmlns:a16="http://schemas.microsoft.com/office/drawing/2014/main" id="{275712A2-25C6-8746-8796-8CFA9A544CBA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32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48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4187</TotalTime>
  <Words>1896</Words>
  <Application>Microsoft Macintosh PowerPoint</Application>
  <PresentationFormat>自定义</PresentationFormat>
  <Paragraphs>519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等线</vt:lpstr>
      <vt:lpstr>Arial</vt:lpstr>
      <vt:lpstr>Helvetica Neue</vt:lpstr>
      <vt:lpstr>Symbol</vt:lpstr>
      <vt:lpstr>Wingdings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Microsoft Office User</cp:lastModifiedBy>
  <cp:revision>360</cp:revision>
  <dcterms:created xsi:type="dcterms:W3CDTF">2021-08-29T14:06:47Z</dcterms:created>
  <dcterms:modified xsi:type="dcterms:W3CDTF">2021-11-07T13:56:45Z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