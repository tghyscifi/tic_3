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41" r:id="rId2"/>
    <p:sldId id="371" r:id="rId3"/>
    <p:sldId id="342" r:id="rId4"/>
    <p:sldId id="353" r:id="rId5"/>
    <p:sldId id="369" r:id="rId6"/>
    <p:sldId id="370" r:id="rId7"/>
    <p:sldId id="372" r:id="rId8"/>
    <p:sldId id="354" r:id="rId9"/>
    <p:sldId id="355" r:id="rId10"/>
    <p:sldId id="363" r:id="rId11"/>
    <p:sldId id="362" r:id="rId12"/>
    <p:sldId id="374" r:id="rId13"/>
    <p:sldId id="366" r:id="rId14"/>
    <p:sldId id="368" r:id="rId15"/>
    <p:sldId id="367" r:id="rId16"/>
    <p:sldId id="365" r:id="rId17"/>
  </p:sldIdLst>
  <p:sldSz cx="9144000" cy="6858000" type="screen4x3"/>
  <p:notesSz cx="6858000" cy="9144000"/>
  <p:custShowLst>
    <p:custShow name="自定义放映 1" id="0">
      <p:sldLst/>
    </p:custShow>
  </p:custShowLst>
  <p:defaultTextStyle>
    <a:defPPr>
      <a:defRPr lang="zh-CN"/>
    </a:defPPr>
    <a:lvl1pPr algn="l" rtl="0" fontAlgn="base">
      <a:spcBef>
        <a:spcPct val="20000"/>
      </a:spcBef>
      <a:spcAft>
        <a:spcPct val="0"/>
      </a:spcAft>
      <a:buFont typeface="Wingdings" pitchFamily="2" charset="2"/>
      <a:buChar char="•"/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Font typeface="Wingdings" pitchFamily="2" charset="2"/>
      <a:buChar char="•"/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Font typeface="Wingdings" pitchFamily="2" charset="2"/>
      <a:buChar char="•"/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Font typeface="Wingdings" pitchFamily="2" charset="2"/>
      <a:buChar char="•"/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Font typeface="Wingdings" pitchFamily="2" charset="2"/>
      <a:buChar char="•"/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909272C-38B3-4E5A-B267-98F1CF98B02C}">
          <p14:sldIdLst>
            <p14:sldId id="341"/>
            <p14:sldId id="371"/>
            <p14:sldId id="342"/>
            <p14:sldId id="353"/>
            <p14:sldId id="369"/>
            <p14:sldId id="370"/>
            <p14:sldId id="372"/>
            <p14:sldId id="354"/>
            <p14:sldId id="355"/>
            <p14:sldId id="363"/>
            <p14:sldId id="362"/>
            <p14:sldId id="374"/>
            <p14:sldId id="366"/>
            <p14:sldId id="368"/>
            <p14:sldId id="367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FD6FF"/>
    <a:srgbClr val="75C4FF"/>
    <a:srgbClr val="973095"/>
    <a:srgbClr val="0000FF"/>
    <a:srgbClr val="E8B6E7"/>
    <a:srgbClr val="DD93DB"/>
    <a:srgbClr val="99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69" autoAdjust="0"/>
    <p:restoredTop sz="91601" autoAdjust="0"/>
  </p:normalViewPr>
  <p:slideViewPr>
    <p:cSldViewPr>
      <p:cViewPr varScale="1">
        <p:scale>
          <a:sx n="151" d="100"/>
          <a:sy n="151" d="100"/>
        </p:scale>
        <p:origin x="1972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86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AF705BCB-EA9E-499F-8E31-6376EB7F9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6384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smtClean="0">
                <a:ea typeface="宋体" pitchFamily="2" charset="-122"/>
              </a:defRPr>
            </a:lvl1pPr>
          </a:lstStyle>
          <a:p>
            <a:pPr>
              <a:defRPr/>
            </a:pPr>
            <a:fld id="{70310FF6-58FC-49BC-9972-B001C6EEBA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98485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cover-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95865"/>
            <a:ext cx="9144000" cy="163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685800" y="3657600"/>
            <a:ext cx="7772400" cy="762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rgbClr val="973A95">
                  <a:alpha val="50000"/>
                </a:srgbClr>
              </a:gs>
              <a:gs pos="100000">
                <a:schemeClr val="bg1"/>
              </a:gs>
            </a:gsLst>
            <a:lin ang="0" scaled="1"/>
          </a:gra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6" name="Picture 14" descr="cover-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752600"/>
            <a:ext cx="9158288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cover-1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81000"/>
            <a:ext cx="9144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5" name="Rectangle 1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2438402"/>
            <a:ext cx="7772400" cy="1470025"/>
          </a:xfrm>
        </p:spPr>
        <p:txBody>
          <a:bodyPr/>
          <a:lstStyle>
            <a:lvl1pPr>
              <a:defRPr sz="4800" b="1">
                <a:solidFill>
                  <a:schemeClr val="tx1"/>
                </a:solidFill>
                <a:effectLst/>
                <a:latin typeface="+mj-lt"/>
                <a:ea typeface="+mj-ea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284729-81EE-42FC-9EC0-A2B50D4B0D4D}"/>
              </a:ext>
            </a:extLst>
          </p:cNvPr>
          <p:cNvSpPr txBox="1"/>
          <p:nvPr userDrawn="1"/>
        </p:nvSpPr>
        <p:spPr>
          <a:xfrm>
            <a:off x="685800" y="5474077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fld id="{07579AF8-47D3-4FD1-8EBB-0027EE81A077}" type="datetime2">
              <a:rPr lang="zh-CN" altLang="en-US" sz="1600" kern="1200" smtClean="0">
                <a:solidFill>
                  <a:schemeClr val="tx1"/>
                </a:solidFill>
                <a:latin typeface="+mj-lt"/>
                <a:ea typeface="+mj-ea"/>
                <a:cs typeface="+mn-cs"/>
              </a:rPr>
              <a:t>2021年12月8日</a:t>
            </a:fld>
            <a:endParaRPr lang="zh-CN" altLang="en-US" sz="1600" kern="1200" dirty="0">
              <a:solidFill>
                <a:schemeClr val="tx1"/>
              </a:solidFill>
              <a:latin typeface="+mj-lt"/>
              <a:ea typeface="+mj-ea"/>
              <a:cs typeface="+mn-cs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51F727F-4607-4BFA-9E4C-F3AF57F4C3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5800" y="4556126"/>
            <a:ext cx="7772400" cy="439739"/>
          </a:xfr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  <a:defRPr sz="1400" b="0">
                <a:effectLst/>
                <a:latin typeface="+mj-lt"/>
                <a:ea typeface="+mj-ea"/>
              </a:defRPr>
            </a:lvl1pPr>
            <a:lvl2pPr marL="864000" indent="-4445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u"/>
              <a:defRPr sz="1600" b="0">
                <a:effectLst/>
                <a:latin typeface="+mj-lt"/>
                <a:ea typeface="楷体" pitchFamily="49" charset="-122"/>
              </a:defRPr>
            </a:lvl2pPr>
            <a:lvl3pPr marL="1346200" indent="-431800">
              <a:spcBef>
                <a:spcPts val="1300"/>
              </a:spcBef>
              <a:buFont typeface="Wingdings" pitchFamily="2" charset="2"/>
              <a:buChar char="ü"/>
              <a:defRPr sz="2800" b="1">
                <a:effectLst/>
                <a:latin typeface="楷体" pitchFamily="49" charset="-122"/>
                <a:ea typeface="楷体" pitchFamily="49" charset="-122"/>
              </a:defRPr>
            </a:lvl3pPr>
          </a:lstStyle>
          <a:p>
            <a:pPr lvl="0"/>
            <a:r>
              <a:rPr lang="en-US" altLang="zh-CN" dirty="0"/>
              <a:t>123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6C2C952-2B3E-4744-86FE-C802608874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52400"/>
            <a:ext cx="7620000" cy="685800"/>
          </a:xfrm>
        </p:spPr>
        <p:txBody>
          <a:bodyPr/>
          <a:lstStyle>
            <a:lvl1pPr>
              <a:defRPr sz="3200" b="0">
                <a:latin typeface="+mj-lt"/>
                <a:ea typeface="+mj-ea"/>
              </a:defRPr>
            </a:lvl1pPr>
          </a:lstStyle>
          <a:p>
            <a:r>
              <a:rPr lang="en-US" altLang="zh-CN" dirty="0"/>
              <a:t>123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23578EE-EBD2-4835-9AF0-53B31914B9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48000" y="1600200"/>
            <a:ext cx="5334000" cy="4191000"/>
          </a:xfrm>
        </p:spPr>
        <p:txBody>
          <a:bodyPr/>
          <a:lstStyle>
            <a:lvl1pPr marL="444500" indent="-4445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Ø"/>
              <a:defRPr sz="2000" b="0">
                <a:effectLst/>
                <a:latin typeface="+mj-lt"/>
                <a:ea typeface="+mj-ea"/>
              </a:defRPr>
            </a:lvl1pPr>
            <a:lvl2pPr marL="864000" indent="-4445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u"/>
              <a:defRPr sz="1600" b="0">
                <a:effectLst/>
                <a:latin typeface="+mj-lt"/>
                <a:ea typeface="楷体" pitchFamily="49" charset="-122"/>
              </a:defRPr>
            </a:lvl2pPr>
            <a:lvl3pPr marL="1346200" indent="-431800">
              <a:spcBef>
                <a:spcPts val="1300"/>
              </a:spcBef>
              <a:buFont typeface="Wingdings" pitchFamily="2" charset="2"/>
              <a:buChar char="ü"/>
              <a:defRPr sz="2800" b="1">
                <a:effectLst/>
                <a:latin typeface="楷体" pitchFamily="49" charset="-122"/>
                <a:ea typeface="楷体" pitchFamily="49" charset="-122"/>
              </a:defRPr>
            </a:lvl3pPr>
          </a:lstStyle>
          <a:p>
            <a:pPr lvl="0"/>
            <a:r>
              <a:rPr lang="en-US" altLang="zh-CN" dirty="0"/>
              <a:t>123</a:t>
            </a:r>
          </a:p>
          <a:p>
            <a:pPr lvl="1"/>
            <a:r>
              <a:rPr lang="en-US" altLang="zh-CN" dirty="0"/>
              <a:t>123</a:t>
            </a:r>
          </a:p>
          <a:p>
            <a:pPr lvl="1"/>
            <a:r>
              <a:rPr lang="en-US" altLang="zh-CN" dirty="0"/>
              <a:t>123</a:t>
            </a:r>
          </a:p>
          <a:p>
            <a:pPr lvl="0"/>
            <a:r>
              <a:rPr lang="en-US" altLang="zh-CN" dirty="0"/>
              <a:t>123</a:t>
            </a:r>
          </a:p>
          <a:p>
            <a:pPr lvl="1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600186-D849-4036-93C5-CE66BCF6FE5E}"/>
              </a:ext>
            </a:extLst>
          </p:cNvPr>
          <p:cNvSpPr/>
          <p:nvPr userDrawn="1"/>
        </p:nvSpPr>
        <p:spPr bwMode="auto">
          <a:xfrm>
            <a:off x="2438401" y="1447800"/>
            <a:ext cx="45719" cy="4419600"/>
          </a:xfrm>
          <a:prstGeom prst="rect">
            <a:avLst/>
          </a:prstGeom>
          <a:solidFill>
            <a:srgbClr val="97309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95F3591-25BE-489A-8830-7DF439D91090}"/>
              </a:ext>
            </a:extLst>
          </p:cNvPr>
          <p:cNvSpPr txBox="1">
            <a:spLocks/>
          </p:cNvSpPr>
          <p:nvPr userDrawn="1"/>
        </p:nvSpPr>
        <p:spPr>
          <a:xfrm>
            <a:off x="4114800" y="6553200"/>
            <a:ext cx="914400" cy="207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黑体" pitchFamily="49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9pPr>
          </a:lstStyle>
          <a:p>
            <a:pPr algn="ctr">
              <a:buNone/>
            </a:pPr>
            <a:r>
              <a:rPr lang="zh-CN" altLang="en-US" sz="1000" b="0" dirty="0">
                <a:solidFill>
                  <a:schemeClr val="tx1"/>
                </a:solidFill>
                <a:latin typeface="+mj-lt"/>
              </a:rPr>
              <a:t>第</a:t>
            </a:r>
            <a:fld id="{1A2308E8-3FA5-45DA-9B79-8AF93EFBEA5C}" type="slidenum">
              <a:rPr lang="zh-CN" altLang="en-US" sz="1000" b="0" smtClean="0">
                <a:solidFill>
                  <a:schemeClr val="tx1"/>
                </a:solidFill>
                <a:latin typeface="+mj-lt"/>
              </a:rPr>
              <a:pPr algn="ctr">
                <a:buNone/>
              </a:pPr>
              <a:t>‹#›</a:t>
            </a:fld>
            <a:r>
              <a:rPr lang="zh-CN" altLang="en-US" sz="1000" b="0" dirty="0">
                <a:solidFill>
                  <a:schemeClr val="tx1"/>
                </a:solidFill>
                <a:latin typeface="+mj-lt"/>
              </a:rPr>
              <a:t>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13835C-B7F2-4874-A180-A6ADEE72ED5B}"/>
              </a:ext>
            </a:extLst>
          </p:cNvPr>
          <p:cNvSpPr txBox="1"/>
          <p:nvPr userDrawn="1"/>
        </p:nvSpPr>
        <p:spPr>
          <a:xfrm>
            <a:off x="1219201" y="3281690"/>
            <a:ext cx="1127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zh-CN" altLang="en-US" sz="2800" b="1" dirty="0">
                <a:latin typeface="+mj-lt"/>
                <a:ea typeface="+mj-ea"/>
              </a:rPr>
              <a:t>目录</a:t>
            </a:r>
            <a:endParaRPr lang="zh-CN" altLang="en-US" sz="2800" b="1" kern="1200" dirty="0">
              <a:solidFill>
                <a:schemeClr val="tx1"/>
              </a:solidFill>
              <a:latin typeface="+mj-lt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85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8088" y="152400"/>
            <a:ext cx="7620000" cy="685800"/>
          </a:xfrm>
        </p:spPr>
        <p:txBody>
          <a:bodyPr/>
          <a:lstStyle>
            <a:lvl1pPr>
              <a:defRPr sz="3200" b="0">
                <a:latin typeface="+mj-lt"/>
                <a:ea typeface="+mj-ea"/>
              </a:defRPr>
            </a:lvl1pPr>
          </a:lstStyle>
          <a:p>
            <a:r>
              <a:rPr lang="en-US" altLang="zh-CN" dirty="0"/>
              <a:t>123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19100" y="1219200"/>
            <a:ext cx="8305800" cy="4800600"/>
          </a:xfrm>
        </p:spPr>
        <p:txBody>
          <a:bodyPr/>
          <a:lstStyle>
            <a:lvl1pPr marL="285750" indent="-285750">
              <a:buSzPct val="90000"/>
              <a:buFont typeface="Wingdings" panose="05000000000000000000" pitchFamily="2" charset="2"/>
              <a:buChar char="Ø"/>
              <a:defRPr sz="1800" b="0">
                <a:effectLst/>
                <a:latin typeface="+mj-lt"/>
                <a:ea typeface="+mj-ea"/>
              </a:defRPr>
            </a:lvl1pPr>
            <a:lvl2pPr marL="901700" indent="-4445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u"/>
              <a:defRPr sz="1600" b="0">
                <a:effectLst/>
                <a:latin typeface="+mj-lt"/>
                <a:ea typeface="楷体" pitchFamily="49" charset="-122"/>
              </a:defRPr>
            </a:lvl2pPr>
            <a:lvl3pPr marL="1346200" indent="-4318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  <a:defRPr sz="1400" b="0">
                <a:effectLst/>
                <a:latin typeface="+mj-lt"/>
                <a:ea typeface="楷体" pitchFamily="49" charset="-122"/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  <a:defRPr sz="1400">
                <a:effectLst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123</a:t>
            </a:r>
          </a:p>
          <a:p>
            <a:pPr lvl="1"/>
            <a:r>
              <a:rPr lang="en-US" altLang="zh-CN" dirty="0"/>
              <a:t>123</a:t>
            </a:r>
          </a:p>
          <a:p>
            <a:pPr lvl="1"/>
            <a:r>
              <a:rPr lang="en-US" altLang="zh-CN" dirty="0"/>
              <a:t>123</a:t>
            </a:r>
          </a:p>
          <a:p>
            <a:pPr lvl="1"/>
            <a:r>
              <a:rPr lang="en-US" altLang="zh-CN" dirty="0"/>
              <a:t>123</a:t>
            </a:r>
          </a:p>
          <a:p>
            <a:pPr lvl="0"/>
            <a:r>
              <a:rPr lang="en-US" altLang="zh-CN" dirty="0"/>
              <a:t>123</a:t>
            </a:r>
          </a:p>
          <a:p>
            <a:pPr lvl="1"/>
            <a:r>
              <a:rPr lang="en-US" altLang="zh-CN" dirty="0"/>
              <a:t>123</a:t>
            </a:r>
          </a:p>
          <a:p>
            <a:pPr lvl="2"/>
            <a:r>
              <a:rPr lang="en-US" altLang="zh-CN" dirty="0"/>
              <a:t>123</a:t>
            </a:r>
          </a:p>
          <a:p>
            <a:pPr lvl="2"/>
            <a:r>
              <a:rPr lang="en-US" altLang="zh-CN" dirty="0"/>
              <a:t>123</a:t>
            </a:r>
          </a:p>
          <a:p>
            <a:pPr lvl="3"/>
            <a:r>
              <a:rPr lang="en-US" altLang="zh-CN" dirty="0"/>
              <a:t>123</a:t>
            </a:r>
          </a:p>
          <a:p>
            <a:pPr lvl="3"/>
            <a:r>
              <a:rPr lang="en-US" altLang="zh-CN" dirty="0"/>
              <a:t>123</a:t>
            </a:r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7459C4B-336F-48FF-B55E-D3DBB1CD1D3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9100" y="6137033"/>
            <a:ext cx="8305800" cy="397899"/>
          </a:xfrm>
        </p:spPr>
        <p:txBody>
          <a:bodyPr/>
          <a:lstStyle>
            <a:lvl1pPr marL="0" indent="0">
              <a:buSzPct val="90000"/>
              <a:buFont typeface="Wingdings 2" pitchFamily="18" charset="2"/>
              <a:buNone/>
              <a:defRPr sz="1050" b="0">
                <a:effectLst/>
                <a:latin typeface="+mj-lt"/>
                <a:ea typeface="+mj-ea"/>
              </a:defRPr>
            </a:lvl1pPr>
            <a:lvl2pPr marL="901700" indent="-444500">
              <a:spcBef>
                <a:spcPts val="1920"/>
              </a:spcBef>
              <a:buSzPct val="90000"/>
              <a:buFont typeface="Wingdings" pitchFamily="2" charset="2"/>
              <a:buChar char=""/>
              <a:defRPr sz="3200" b="1">
                <a:effectLst/>
                <a:latin typeface="楷体" pitchFamily="49" charset="-122"/>
                <a:ea typeface="楷体" pitchFamily="49" charset="-122"/>
              </a:defRPr>
            </a:lvl2pPr>
            <a:lvl3pPr marL="1346200" indent="-431800">
              <a:spcBef>
                <a:spcPts val="1300"/>
              </a:spcBef>
              <a:buFont typeface="Wingdings" pitchFamily="2" charset="2"/>
              <a:buChar char="ü"/>
              <a:defRPr sz="2800" b="1">
                <a:effectLst/>
                <a:latin typeface="楷体" pitchFamily="49" charset="-122"/>
                <a:ea typeface="楷体" pitchFamily="49" charset="-122"/>
              </a:defRPr>
            </a:lvl3pPr>
          </a:lstStyle>
          <a:p>
            <a:pPr lvl="0"/>
            <a:r>
              <a:rPr lang="en-US" altLang="zh-CN" dirty="0"/>
              <a:t>123</a:t>
            </a:r>
            <a:endParaRPr lang="zh-CN" altLang="en-US" dirty="0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42B46155-25DB-4E81-AD92-06799018E781}"/>
              </a:ext>
            </a:extLst>
          </p:cNvPr>
          <p:cNvSpPr txBox="1">
            <a:spLocks/>
          </p:cNvSpPr>
          <p:nvPr userDrawn="1"/>
        </p:nvSpPr>
        <p:spPr>
          <a:xfrm>
            <a:off x="4114800" y="6553200"/>
            <a:ext cx="914400" cy="207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黑体" pitchFamily="49" charset="-122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黑体" pitchFamily="49" charset="-122"/>
                <a:cs typeface="+mn-cs"/>
              </a:defRPr>
            </a:lvl9pPr>
          </a:lstStyle>
          <a:p>
            <a:pPr algn="ctr">
              <a:buNone/>
            </a:pPr>
            <a:r>
              <a:rPr lang="zh-CN" altLang="en-US" sz="1000" b="0" dirty="0">
                <a:solidFill>
                  <a:schemeClr val="tx1"/>
                </a:solidFill>
                <a:latin typeface="+mj-lt"/>
              </a:rPr>
              <a:t>第</a:t>
            </a:r>
            <a:fld id="{1A2308E8-3FA5-45DA-9B79-8AF93EFBEA5C}" type="slidenum">
              <a:rPr lang="zh-CN" altLang="en-US" sz="1000" b="0" smtClean="0">
                <a:solidFill>
                  <a:schemeClr val="tx1"/>
                </a:solidFill>
                <a:latin typeface="+mj-lt"/>
              </a:rPr>
              <a:pPr algn="ctr">
                <a:buNone/>
              </a:pPr>
              <a:t>‹#›</a:t>
            </a:fld>
            <a:r>
              <a:rPr lang="zh-CN" altLang="en-US" sz="1000" b="0" dirty="0">
                <a:solidFill>
                  <a:schemeClr val="tx1"/>
                </a:solidFill>
                <a:latin typeface="+mj-lt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457950"/>
            <a:ext cx="990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99646" y="111467"/>
            <a:ext cx="8991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7051"/>
            <a:ext cx="7924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Title</a:t>
            </a:r>
            <a:r>
              <a:rPr lang="zh-CN" altLang="en-US" dirty="0"/>
              <a:t>速度发动司法</a:t>
            </a:r>
          </a:p>
          <a:p>
            <a:pPr lvl="1"/>
            <a:r>
              <a:rPr lang="en-US" altLang="zh-CN" dirty="0"/>
              <a:t>Title</a:t>
            </a:r>
            <a:r>
              <a:rPr lang="zh-CN" altLang="en-US" dirty="0"/>
              <a:t>额外</a:t>
            </a:r>
          </a:p>
          <a:p>
            <a:pPr lvl="2"/>
            <a:r>
              <a:rPr lang="en-US" altLang="zh-CN" dirty="0"/>
              <a:t>Title</a:t>
            </a:r>
            <a:r>
              <a:rPr lang="zh-CN" altLang="en-US" dirty="0"/>
              <a:t>阿嫂发</a:t>
            </a:r>
          </a:p>
          <a:p>
            <a:pPr lvl="3"/>
            <a:r>
              <a:rPr lang="en-US" altLang="zh-CN" dirty="0"/>
              <a:t>Title</a:t>
            </a:r>
            <a:r>
              <a:rPr lang="zh-CN" altLang="en-US" dirty="0"/>
              <a:t>动</a:t>
            </a:r>
          </a:p>
          <a:p>
            <a:pPr lvl="4"/>
            <a:r>
              <a:rPr lang="en-US" altLang="zh-CN" dirty="0"/>
              <a:t>Title</a:t>
            </a:r>
            <a:r>
              <a:rPr lang="zh-CN" altLang="en-US" dirty="0"/>
              <a:t>司法</a:t>
            </a:r>
          </a:p>
        </p:txBody>
      </p:sp>
      <p:sp>
        <p:nvSpPr>
          <p:cNvPr id="6" name="矩形 5"/>
          <p:cNvSpPr/>
          <p:nvPr userDrawn="1"/>
        </p:nvSpPr>
        <p:spPr bwMode="auto">
          <a:xfrm>
            <a:off x="914400" y="833584"/>
            <a:ext cx="8100000" cy="36000"/>
          </a:xfrm>
          <a:prstGeom prst="rect">
            <a:avLst/>
          </a:prstGeom>
          <a:solidFill>
            <a:srgbClr val="97309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pic>
        <p:nvPicPr>
          <p:cNvPr id="13" name="图片 12" descr="AcademicExchange_issue01_articles01_img09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9646" y="103114"/>
            <a:ext cx="854600" cy="851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2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itchFamily="49" charset="-122"/>
          <a:ea typeface="隶书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ahoma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"/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宋体" pitchFamily="2" charset="-122"/>
          <a:ea typeface="宋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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楷体" pitchFamily="49" charset="-122"/>
          <a:ea typeface="楷体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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楷体" pitchFamily="49" charset="-122"/>
          <a:ea typeface="楷体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"/>
        <a:defRPr sz="1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"/>
        <a:defRPr sz="1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"/>
        <a:defRPr sz="1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"/>
        <a:defRPr sz="1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"/>
        <a:defRPr sz="1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"/>
        <a:defRPr sz="16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43DAC-F3DC-442C-ABF8-41890BCB0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38402"/>
            <a:ext cx="7620000" cy="1470025"/>
          </a:xfrm>
        </p:spPr>
        <p:txBody>
          <a:bodyPr/>
          <a:lstStyle/>
          <a:p>
            <a:r>
              <a:rPr lang="en-US" altLang="zh-CN" dirty="0" err="1"/>
              <a:t>ResNet</a:t>
            </a:r>
            <a:r>
              <a:rPr lang="zh-CN" altLang="en-US" dirty="0"/>
              <a:t>图像分类演示</a:t>
            </a:r>
            <a:br>
              <a:rPr lang="en-US" altLang="zh-CN" dirty="0"/>
            </a:br>
            <a:r>
              <a:rPr lang="en-US" altLang="zh-CN" dirty="0"/>
              <a:t>----</a:t>
            </a:r>
            <a:r>
              <a:rPr lang="zh-CN" altLang="en-US" dirty="0"/>
              <a:t>预处理</a:t>
            </a:r>
            <a:r>
              <a:rPr lang="en-US" altLang="zh-CN" dirty="0"/>
              <a:t>&amp;</a:t>
            </a:r>
            <a:r>
              <a:rPr lang="zh-CN" altLang="en-US" dirty="0"/>
              <a:t>拆包组包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B2A455-49AD-454D-AF7A-157571CDB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4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整体流程</a:t>
            </a:r>
            <a:endParaRPr lang="en-US" altLang="zh-CN" dirty="0"/>
          </a:p>
        </p:txBody>
      </p:sp>
      <p:sp>
        <p:nvSpPr>
          <p:cNvPr id="5" name="AutoShape 2" descr="6.png">
            <a:extLst>
              <a:ext uri="{FF2B5EF4-FFF2-40B4-BE49-F238E27FC236}">
                <a16:creationId xmlns:a16="http://schemas.microsoft.com/office/drawing/2014/main" id="{91400714-87FA-4143-AED5-02F7C83D3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D867010-3C35-4BDF-ABE4-431764FD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147645"/>
            <a:ext cx="8305800" cy="4405551"/>
          </a:xfrm>
        </p:spPr>
        <p:txBody>
          <a:bodyPr/>
          <a:lstStyle/>
          <a:p>
            <a:r>
              <a:rPr lang="zh-CN" altLang="en-US" dirty="0"/>
              <a:t>大致分为上述</a:t>
            </a:r>
            <a:r>
              <a:rPr lang="en-US" altLang="zh-CN" dirty="0"/>
              <a:t>3</a:t>
            </a:r>
            <a:r>
              <a:rPr lang="zh-CN" altLang="en-US" dirty="0"/>
              <a:t>个环节：</a:t>
            </a:r>
            <a:endParaRPr lang="en-US" altLang="zh-CN" dirty="0"/>
          </a:p>
          <a:p>
            <a:pPr lvl="1">
              <a:buFont typeface="+mj-lt"/>
              <a:buAutoNum type="arabicPeriod"/>
            </a:pPr>
            <a:r>
              <a:rPr lang="zh-CN" altLang="en-US" dirty="0"/>
              <a:t>预处理（按照算法要求，对图像归一化等）</a:t>
            </a:r>
            <a:endParaRPr lang="en-US" altLang="zh-CN" dirty="0"/>
          </a:p>
          <a:p>
            <a:pPr lvl="1">
              <a:buFont typeface="+mj-lt"/>
              <a:buAutoNum type="arabicPeriod"/>
            </a:pPr>
            <a:r>
              <a:rPr lang="zh-CN" altLang="en-US" dirty="0"/>
              <a:t>拆分（按照映射要求，对图像补</a:t>
            </a:r>
            <a:r>
              <a:rPr lang="en-US" altLang="zh-CN" dirty="0"/>
              <a:t>pad</a:t>
            </a:r>
            <a:r>
              <a:rPr lang="zh-CN" altLang="en-US" dirty="0"/>
              <a:t>、拆分）</a:t>
            </a:r>
            <a:endParaRPr lang="en-US" altLang="zh-CN" dirty="0"/>
          </a:p>
          <a:p>
            <a:pPr lvl="1">
              <a:buFont typeface="+mj-lt"/>
              <a:buAutoNum type="arabicPeriod"/>
            </a:pPr>
            <a:r>
              <a:rPr lang="zh-CN" altLang="en-US" dirty="0"/>
              <a:t>组包（按照映射要求，分若干个</a:t>
            </a:r>
            <a:r>
              <a:rPr lang="en-US" altLang="zh-CN" dirty="0"/>
              <a:t>phase</a:t>
            </a:r>
            <a:r>
              <a:rPr lang="zh-CN" altLang="en-US" dirty="0"/>
              <a:t>，依次打包数据，然后按</a:t>
            </a:r>
            <a:r>
              <a:rPr lang="en-US" altLang="zh-CN" dirty="0"/>
              <a:t>phase</a:t>
            </a:r>
            <a:r>
              <a:rPr lang="zh-CN" altLang="en-US" dirty="0"/>
              <a:t>发送数据进入芯片）</a:t>
            </a:r>
            <a:endParaRPr lang="en-US" altLang="zh-CN" dirty="0"/>
          </a:p>
          <a:p>
            <a:pPr lvl="1">
              <a:buFont typeface="+mj-lt"/>
              <a:buAutoNum type="arabicPeriod"/>
            </a:pPr>
            <a:endParaRPr lang="en-US" altLang="zh-CN" dirty="0"/>
          </a:p>
          <a:p>
            <a:pPr marL="457200" lvl="1" indent="457200">
              <a:buNone/>
            </a:pPr>
            <a:r>
              <a:rPr lang="zh-CN" altLang="en-US" sz="1200" dirty="0"/>
              <a:t>其中，</a:t>
            </a:r>
            <a:r>
              <a:rPr lang="en-US" altLang="zh-CN" sz="1200" dirty="0"/>
              <a:t>1</a:t>
            </a:r>
            <a:r>
              <a:rPr lang="zh-CN" altLang="en-US" sz="1200" dirty="0"/>
              <a:t>、</a:t>
            </a:r>
            <a:r>
              <a:rPr lang="en-US" altLang="zh-CN" sz="1200" dirty="0"/>
              <a:t>2</a:t>
            </a:r>
            <a:r>
              <a:rPr lang="zh-CN" altLang="en-US" sz="1200" dirty="0"/>
              <a:t>步骤目前已经固定；</a:t>
            </a:r>
            <a:endParaRPr lang="en-US" altLang="zh-CN" sz="1200" dirty="0"/>
          </a:p>
          <a:p>
            <a:pPr marL="457200" lvl="1" indent="457200"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步骤</a:t>
            </a:r>
            <a:r>
              <a:rPr lang="en-US" altLang="zh-CN" sz="1200" dirty="0">
                <a:solidFill>
                  <a:srgbClr val="FF0000"/>
                </a:solidFill>
              </a:rPr>
              <a:t>3</a:t>
            </a:r>
            <a:r>
              <a:rPr lang="zh-CN" altLang="en-US" sz="1200" dirty="0">
                <a:solidFill>
                  <a:srgbClr val="FF0000"/>
                </a:solidFill>
              </a:rPr>
              <a:t>，因为涉及到分多少个</a:t>
            </a:r>
            <a:r>
              <a:rPr lang="en-US" altLang="zh-CN" sz="1200" dirty="0">
                <a:solidFill>
                  <a:srgbClr val="FF0000"/>
                </a:solidFill>
              </a:rPr>
              <a:t>phase</a:t>
            </a:r>
            <a:r>
              <a:rPr lang="zh-CN" altLang="en-US" sz="1200" dirty="0">
                <a:solidFill>
                  <a:srgbClr val="FF0000"/>
                </a:solidFill>
              </a:rPr>
              <a:t>发送进入芯片，每个</a:t>
            </a:r>
            <a:r>
              <a:rPr lang="en-US" altLang="zh-CN" sz="1200" dirty="0">
                <a:solidFill>
                  <a:srgbClr val="FF0000"/>
                </a:solidFill>
              </a:rPr>
              <a:t>phase</a:t>
            </a:r>
            <a:r>
              <a:rPr lang="zh-CN" altLang="en-US" sz="1200" dirty="0">
                <a:solidFill>
                  <a:srgbClr val="FF0000"/>
                </a:solidFill>
              </a:rPr>
              <a:t>发多少数据，目前给出的方案是最简单的模式，后续如果要提升芯片计算性能的话，可能需要更改映射配置，更改配置后，本步骤的打包方案也就会随之变化！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marL="457200" lvl="1" indent="45720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457200" lvl="1" indent="457200"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建议：</a:t>
            </a:r>
            <a:r>
              <a:rPr lang="en-US" altLang="zh-CN" sz="1200" dirty="0">
                <a:solidFill>
                  <a:srgbClr val="FF0000"/>
                </a:solidFill>
              </a:rPr>
              <a:t>1.  FPGA</a:t>
            </a:r>
            <a:r>
              <a:rPr lang="zh-CN" altLang="en-US" sz="1200" dirty="0">
                <a:solidFill>
                  <a:srgbClr val="FF0000"/>
                </a:solidFill>
              </a:rPr>
              <a:t>实现时，三个步骤分不同的模块实现，互不影响。（尤其是第</a:t>
            </a:r>
            <a:r>
              <a:rPr lang="en-US" altLang="zh-CN" sz="1200" dirty="0">
                <a:solidFill>
                  <a:srgbClr val="FF0000"/>
                </a:solidFill>
              </a:rPr>
              <a:t>3</a:t>
            </a:r>
            <a:r>
              <a:rPr lang="zh-CN" altLang="en-US" sz="1200" dirty="0">
                <a:solidFill>
                  <a:srgbClr val="FF0000"/>
                </a:solidFill>
              </a:rPr>
              <a:t>个模块，后续可能会有改动）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marL="457200" lvl="1" indent="457200">
              <a:buNone/>
            </a:pPr>
            <a:r>
              <a:rPr lang="en-US" altLang="zh-CN" sz="1200" dirty="0">
                <a:solidFill>
                  <a:srgbClr val="FF0000"/>
                </a:solidFill>
              </a:rPr>
              <a:t>            2.  </a:t>
            </a:r>
            <a:r>
              <a:rPr lang="zh-CN" altLang="en-US" sz="1200" dirty="0">
                <a:solidFill>
                  <a:srgbClr val="FF0000"/>
                </a:solidFill>
              </a:rPr>
              <a:t>模块之间预留测试验证的接口，如通过</a:t>
            </a:r>
            <a:r>
              <a:rPr lang="en-US" altLang="zh-CN" sz="1200" dirty="0">
                <a:solidFill>
                  <a:srgbClr val="FF0000"/>
                </a:solidFill>
              </a:rPr>
              <a:t>UART</a:t>
            </a:r>
            <a:r>
              <a:rPr lang="zh-CN" altLang="en-US" sz="1200" dirty="0">
                <a:solidFill>
                  <a:srgbClr val="FF0000"/>
                </a:solidFill>
              </a:rPr>
              <a:t>把数据发回电脑等。每个模块设计完毕之后，</a:t>
            </a:r>
            <a:r>
              <a:rPr lang="zh-CN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可以通过测试接口，获取模块的输入和输出，对比输入、输出是否与预期的行为一致，一致的话，可以进行下一个模块设计与测试。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FE3299-D0A2-463B-B476-0B3BD27ADB54}"/>
              </a:ext>
            </a:extLst>
          </p:cNvPr>
          <p:cNvSpPr/>
          <p:nvPr/>
        </p:nvSpPr>
        <p:spPr bwMode="auto">
          <a:xfrm>
            <a:off x="1219200" y="1447800"/>
            <a:ext cx="952500" cy="457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1200" dirty="0"/>
              <a:t>摄像头采集的图片数据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41C242-4A64-42E1-B778-C523F0FE79D5}"/>
              </a:ext>
            </a:extLst>
          </p:cNvPr>
          <p:cNvSpPr/>
          <p:nvPr/>
        </p:nvSpPr>
        <p:spPr bwMode="auto">
          <a:xfrm>
            <a:off x="2933700" y="1447800"/>
            <a:ext cx="952500" cy="4572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预处理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4201F4-3256-4B85-8ED2-D268B6D23861}"/>
              </a:ext>
            </a:extLst>
          </p:cNvPr>
          <p:cNvSpPr/>
          <p:nvPr/>
        </p:nvSpPr>
        <p:spPr bwMode="auto">
          <a:xfrm>
            <a:off x="4742328" y="1447800"/>
            <a:ext cx="952500" cy="4572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拆分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B396042-E6A8-4239-9EEF-BB349B831726}"/>
              </a:ext>
            </a:extLst>
          </p:cNvPr>
          <p:cNvCxnSpPr/>
          <p:nvPr/>
        </p:nvCxnSpPr>
        <p:spPr bwMode="auto">
          <a:xfrm>
            <a:off x="2171700" y="1690446"/>
            <a:ext cx="7620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DE1361A-EA1E-43C2-B58D-578548F611EB}"/>
              </a:ext>
            </a:extLst>
          </p:cNvPr>
          <p:cNvCxnSpPr/>
          <p:nvPr/>
        </p:nvCxnSpPr>
        <p:spPr bwMode="auto">
          <a:xfrm>
            <a:off x="3886200" y="1690446"/>
            <a:ext cx="856129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F87D5D6-1DB9-459B-8B54-330CB0342502}"/>
              </a:ext>
            </a:extLst>
          </p:cNvPr>
          <p:cNvSpPr/>
          <p:nvPr/>
        </p:nvSpPr>
        <p:spPr bwMode="auto">
          <a:xfrm>
            <a:off x="6248400" y="1447800"/>
            <a:ext cx="1676400" cy="4572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组包（按要求的</a:t>
            </a:r>
            <a:r>
              <a:rPr lang="en-US" altLang="zh-CN" sz="1200" dirty="0">
                <a:solidFill>
                  <a:schemeClr val="bg1"/>
                </a:solidFill>
              </a:rPr>
              <a:t>phase</a:t>
            </a:r>
            <a:r>
              <a:rPr lang="zh-CN" altLang="en-US" sz="1200" dirty="0">
                <a:solidFill>
                  <a:schemeClr val="bg1"/>
                </a:solidFill>
              </a:rPr>
              <a:t>顺序发送）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）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E80667A-6112-45B9-B5A5-B55706C13AF0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>
            <a:off x="5694828" y="1676400"/>
            <a:ext cx="55357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1966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8FD35-D230-406E-8687-60F2A2DE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75F4C-8D30-4A0A-96C5-F8302A842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预处理</a:t>
            </a:r>
            <a:endParaRPr lang="en-US" altLang="zh-CN" b="1" dirty="0"/>
          </a:p>
          <a:p>
            <a:r>
              <a:rPr lang="zh-CN" altLang="en-US" dirty="0"/>
              <a:t>拆分</a:t>
            </a:r>
            <a:endParaRPr lang="en-US" altLang="zh-CN" dirty="0"/>
          </a:p>
          <a:p>
            <a:r>
              <a:rPr lang="zh-CN" altLang="en-US" dirty="0"/>
              <a:t>组包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502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r>
              <a:rPr lang="en-US" altLang="zh-CN" dirty="0"/>
              <a:t>——</a:t>
            </a:r>
            <a:r>
              <a:rPr lang="zh-CN" altLang="en-US" dirty="0"/>
              <a:t>算法实现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68B2F-5AD6-40CF-93C4-A5563A3BD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19200"/>
            <a:ext cx="8318988" cy="4800600"/>
          </a:xfrm>
        </p:spPr>
        <p:txBody>
          <a:bodyPr/>
          <a:lstStyle/>
          <a:p>
            <a:r>
              <a:rPr lang="zh-CN" altLang="en-US" dirty="0"/>
              <a:t>输入图像需要经过一定的预处理，使其呈现出较好的分布特性，然后才能交由神经网络处理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图像预处理方法由算法决定！会相当大的影响精度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下图是算法中使用的预处理方法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AutoShape 2" descr="6.png">
            <a:extLst>
              <a:ext uri="{FF2B5EF4-FFF2-40B4-BE49-F238E27FC236}">
                <a16:creationId xmlns:a16="http://schemas.microsoft.com/office/drawing/2014/main" id="{91400714-87FA-4143-AED5-02F7C83D3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2662DF-4B2B-4D51-AD4F-FBD56790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52448"/>
            <a:ext cx="7014576" cy="175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4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r>
              <a:rPr lang="en-US" altLang="zh-CN" dirty="0"/>
              <a:t>——</a:t>
            </a:r>
            <a:r>
              <a:rPr lang="zh-CN" altLang="en-US" dirty="0"/>
              <a:t>算法实现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905000"/>
                <a:ext cx="8991600" cy="4876799"/>
              </a:xfrm>
            </p:spPr>
            <p:txBody>
              <a:bodyPr/>
              <a:lstStyle/>
              <a:p>
                <a:r>
                  <a:rPr lang="zh-CN" altLang="en-US" dirty="0"/>
                  <a:t>对上述流程详细描述：</a:t>
                </a:r>
                <a:endParaRPr lang="en-US" altLang="zh-CN" dirty="0"/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/>
                  <a:t>首先读入的图像是</a:t>
                </a:r>
                <a:r>
                  <a:rPr lang="en-US" altLang="zh-CN" dirty="0"/>
                  <a:t>RGB</a:t>
                </a:r>
                <a:r>
                  <a:rPr lang="zh-CN" altLang="en-US" dirty="0"/>
                  <a:t>三通道图像，每个像素点是一个</a:t>
                </a:r>
                <a:r>
                  <a:rPr lang="en-US" altLang="zh-CN" dirty="0"/>
                  <a:t>uint8</a:t>
                </a:r>
                <a:r>
                  <a:rPr lang="zh-CN" altLang="en-US" dirty="0"/>
                  <a:t>的数据，范围为</a:t>
                </a:r>
                <a:r>
                  <a:rPr lang="en-US" altLang="zh-CN" dirty="0"/>
                  <a:t>[0,255]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/>
                  <a:t>图像</a:t>
                </a:r>
                <a:r>
                  <a:rPr lang="en-US" altLang="zh-CN" dirty="0"/>
                  <a:t>Resize</a:t>
                </a:r>
                <a:r>
                  <a:rPr lang="zh-CN" altLang="en-US" dirty="0"/>
                  <a:t>整形到</a:t>
                </a:r>
                <a:r>
                  <a:rPr lang="en-US" altLang="zh-CN" dirty="0"/>
                  <a:t>256*256*3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/>
                  <a:t>在</a:t>
                </a:r>
                <a:r>
                  <a:rPr lang="en-US" altLang="zh-CN" dirty="0"/>
                  <a:t>256*256*3</a:t>
                </a:r>
                <a:r>
                  <a:rPr lang="zh-CN" altLang="en-US" dirty="0"/>
                  <a:t>的图像中，裁切出中间的</a:t>
                </a:r>
                <a:r>
                  <a:rPr lang="en-US" altLang="zh-CN" dirty="0"/>
                  <a:t>224*224*3</a:t>
                </a:r>
                <a:r>
                  <a:rPr lang="zh-CN" altLang="en-US" dirty="0"/>
                  <a:t>的部分</a:t>
                </a:r>
                <a:endParaRPr lang="en-US" altLang="zh-CN" dirty="0"/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/>
                  <a:t>将每个像素，</a:t>
                </a:r>
                <a:r>
                  <a:rPr lang="en-US" altLang="zh-CN" dirty="0"/>
                  <a:t>[0,255]</a:t>
                </a:r>
                <a:r>
                  <a:rPr lang="zh-CN" altLang="en-US" dirty="0"/>
                  <a:t>范围的</a:t>
                </a:r>
                <a:r>
                  <a:rPr lang="en-US" altLang="zh-CN" dirty="0"/>
                  <a:t>uint8</a:t>
                </a:r>
                <a:r>
                  <a:rPr lang="zh-CN" altLang="en-US" dirty="0"/>
                  <a:t>的数据，除</a:t>
                </a:r>
                <a:r>
                  <a:rPr lang="en-US" altLang="zh-CN" dirty="0"/>
                  <a:t>255</a:t>
                </a:r>
                <a:r>
                  <a:rPr lang="zh-CN" altLang="en-US" dirty="0"/>
                  <a:t>，转为</a:t>
                </a:r>
                <a:r>
                  <a:rPr lang="en-US" altLang="zh-CN" dirty="0"/>
                  <a:t>[0.0, 1.0]</a:t>
                </a:r>
                <a:r>
                  <a:rPr lang="zh-CN" altLang="en-US" dirty="0"/>
                  <a:t>范围的浮点数</a:t>
                </a:r>
                <a:endParaRPr lang="en-US" altLang="zh-CN" dirty="0"/>
              </a:p>
              <a:p>
                <a:pPr lvl="1">
                  <a:buFont typeface="+mj-lt"/>
                  <a:buAutoNum type="arabicPeriod"/>
                </a:pPr>
                <a:r>
                  <a:rPr lang="en-US" altLang="zh-CN" dirty="0"/>
                  <a:t>RGB</a:t>
                </a:r>
                <a:r>
                  <a:rPr lang="zh-CN" altLang="en-US" dirty="0"/>
                  <a:t>三个通道的像素点，分别归一化：减均值、除方差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−0.485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0.229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−0.456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0.224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 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255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−0.406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0.225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dirty="0"/>
                  <a:t>6. 	</a:t>
                </a:r>
                <a:r>
                  <a:rPr lang="zh-CN" altLang="en-US" dirty="0"/>
                  <a:t>得到的归一化之后的</a:t>
                </a:r>
                <a:r>
                  <a:rPr lang="en-US" altLang="zh-CN" dirty="0" err="1"/>
                  <a:t>r_new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g_new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b_new</a:t>
                </a:r>
                <a:r>
                  <a:rPr lang="zh-CN" altLang="en-US" dirty="0"/>
                  <a:t>，分别乘</a:t>
                </a:r>
                <a:r>
                  <a:rPr lang="en-US" altLang="zh-CN" dirty="0"/>
                  <a:t>128</a:t>
                </a:r>
                <a:r>
                  <a:rPr lang="zh-CN" altLang="en-US" dirty="0"/>
                  <a:t>，然后取整（</a:t>
                </a:r>
                <a:r>
                  <a:rPr lang="en-US" altLang="zh-CN" dirty="0"/>
                  <a:t>round</a:t>
                </a:r>
                <a:r>
                  <a:rPr lang="zh-CN" altLang="en-US" dirty="0"/>
                  <a:t>函数），并截取到</a:t>
                </a:r>
                <a:r>
                  <a:rPr lang="en-US" altLang="zh-CN" dirty="0"/>
                  <a:t>[-128, 127]</a:t>
                </a:r>
                <a:r>
                  <a:rPr lang="zh-CN" altLang="en-US" dirty="0"/>
                  <a:t>之间（</a:t>
                </a:r>
                <a:r>
                  <a:rPr lang="en-US" altLang="zh-CN" dirty="0"/>
                  <a:t>clamp</a:t>
                </a:r>
                <a:r>
                  <a:rPr lang="zh-CN" altLang="en-US" dirty="0"/>
                  <a:t>函数），作为最终的输入像素数据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𝑐𝑙𝑎𝑚𝑝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×128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*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这里，</a:t>
                </a: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一个</m:t>
                    </m:r>
                    <m:r>
                      <a:rPr lang="en-US" altLang="zh-CN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[0, 255]</m:t>
                    </m:r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范围</m:t>
                    </m:r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的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unsigned int8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数据，得到的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是一个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[-128, 127]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范围的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int8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数据</a:t>
                </a:r>
                <a:endParaRPr lang="en-US" altLang="zh-CN" sz="120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905000"/>
                <a:ext cx="8991600" cy="4876799"/>
              </a:xfrm>
              <a:blipFill>
                <a:blip r:embed="rId2"/>
                <a:stretch>
                  <a:fillRect l="-271" t="-1001" r="-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2" descr="6.png">
            <a:extLst>
              <a:ext uri="{FF2B5EF4-FFF2-40B4-BE49-F238E27FC236}">
                <a16:creationId xmlns:a16="http://schemas.microsoft.com/office/drawing/2014/main" id="{91400714-87FA-4143-AED5-02F7C83D3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2662DF-4B2B-4D51-AD4F-FBD56790F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914400"/>
            <a:ext cx="5334000" cy="133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3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r>
              <a:rPr lang="en-US" altLang="zh-CN" dirty="0"/>
              <a:t>——</a:t>
            </a:r>
            <a:r>
              <a:rPr lang="zh-CN" altLang="en-US" dirty="0"/>
              <a:t>硬件实现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990600"/>
                <a:ext cx="8915400" cy="5562600"/>
              </a:xfrm>
            </p:spPr>
            <p:txBody>
              <a:bodyPr/>
              <a:lstStyle/>
              <a:p>
                <a:r>
                  <a:rPr lang="en-US" altLang="zh-CN" b="1" dirty="0"/>
                  <a:t>FPGA</a:t>
                </a:r>
                <a:r>
                  <a:rPr lang="zh-CN" altLang="en-US" b="1" dirty="0"/>
                  <a:t>实现预处理</a:t>
                </a:r>
                <a:r>
                  <a:rPr lang="zh-CN" altLang="en-US" dirty="0"/>
                  <a:t>，可以进行简化：</a:t>
                </a:r>
                <a:endParaRPr lang="en-US" altLang="zh-CN" dirty="0"/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/>
                  <a:t>首先读入的图像是</a:t>
                </a:r>
                <a:r>
                  <a:rPr lang="en-US" altLang="zh-CN" dirty="0"/>
                  <a:t>RGB</a:t>
                </a:r>
                <a:r>
                  <a:rPr lang="zh-CN" altLang="en-US" dirty="0"/>
                  <a:t>三通道图像，每个像素点是一个</a:t>
                </a:r>
                <a:r>
                  <a:rPr lang="en-US" altLang="zh-CN" dirty="0"/>
                  <a:t>uint8</a:t>
                </a:r>
                <a:r>
                  <a:rPr lang="zh-CN" altLang="en-US" dirty="0"/>
                  <a:t>的数据，范围为</a:t>
                </a:r>
                <a:r>
                  <a:rPr lang="en-US" altLang="zh-CN" dirty="0"/>
                  <a:t>[0,255]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/>
                  <a:t>图像直接整形</a:t>
                </a:r>
                <a:r>
                  <a:rPr lang="en-US" altLang="zh-CN" dirty="0"/>
                  <a:t>resize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224*224*3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（对应算法实现中的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2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、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3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步）</a:t>
                </a:r>
                <a:endParaRPr lang="en-US" altLang="zh-CN" dirty="0">
                  <a:solidFill>
                    <a:srgbClr val="00B050"/>
                  </a:solidFill>
                </a:endParaRPr>
              </a:p>
              <a:p>
                <a:pPr lvl="1">
                  <a:buFont typeface="+mj-lt"/>
                  <a:buAutoNum type="arabicPeriod"/>
                </a:pPr>
                <a:r>
                  <a:rPr lang="zh-CN" altLang="en-US" dirty="0">
                    <a:solidFill>
                      <a:srgbClr val="00B050"/>
                    </a:solidFill>
                  </a:rPr>
                  <a:t>（合并算法实现中的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4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、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5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、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6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步）</a:t>
                </a:r>
                <a:r>
                  <a:rPr lang="zh-CN" altLang="en-US" dirty="0"/>
                  <a:t>归一化</a:t>
                </a:r>
                <a:r>
                  <a:rPr lang="zh-CN" altLang="en-US" dirty="0">
                    <a:sym typeface="Wingdings" panose="05000000000000000000" pitchFamily="2" charset="2"/>
                  </a:rPr>
                  <a:t>：（以</a:t>
                </a:r>
                <a:r>
                  <a:rPr lang="en-US" altLang="zh-CN" dirty="0"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sym typeface="Wingdings" panose="05000000000000000000" pitchFamily="2" charset="2"/>
                  </a:rPr>
                  <a:t>通道为例）（</a:t>
                </a:r>
                <a:r>
                  <a:rPr lang="zh-CN" alt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实际可以保留一定的小数位数，在精度和硬件代价权衡。</a:t>
                </a:r>
                <a:r>
                  <a:rPr lang="zh-CN" altLang="en-US" dirty="0">
                    <a:sym typeface="Wingdings" panose="05000000000000000000" pitchFamily="2" charset="2"/>
                  </a:rPr>
                  <a:t>）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clamp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𝑟𝑜𝑢𝑛𝑑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255</m:t>
                                      </m:r>
                                    </m:den>
                                  </m:f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−0.485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0.229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×128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𝑐𝑙𝑎𝑚𝑝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𝑟𝑜𝑢𝑛𝑑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255×0.229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128</m:t>
                                      </m:r>
                                    </m:den>
                                  </m:f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0.485×128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0.229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𝑐𝑙𝑎𝑚𝑝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𝑟𝑜𝑢𝑛𝑑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0.4562109375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−271.0917030568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𝑐𝑙𝑎𝑚𝑝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(2.1919684905×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−271.0917030568)) </m:t>
                      </m:r>
                    </m:oMath>
                  </m:oMathPara>
                </a14:m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sz="1200" dirty="0">
                    <a:solidFill>
                      <a:srgbClr val="FF0000"/>
                    </a:solidFill>
                  </a:rPr>
                  <a:t>*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这里，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一个</m:t>
                    </m:r>
                    <m:r>
                      <a:rPr lang="en-US" altLang="zh-CN" sz="1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[0, 255]</m:t>
                    </m:r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范围</m:t>
                    </m:r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的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unsigned int8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数据，得到的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是一个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[-128, 127]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范围的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int8</a:t>
                </a:r>
                <a:r>
                  <a:rPr lang="zh-CN" altLang="en-US" sz="1200" dirty="0">
                    <a:solidFill>
                      <a:srgbClr val="FF0000"/>
                    </a:solidFill>
                  </a:rPr>
                  <a:t>数据</a:t>
                </a:r>
                <a:endParaRPr lang="en-US" altLang="zh-CN" sz="1200" dirty="0">
                  <a:solidFill>
                    <a:srgbClr val="FF000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90600"/>
                <a:ext cx="8915400" cy="5562600"/>
              </a:xfrm>
              <a:blipFill>
                <a:blip r:embed="rId2"/>
                <a:stretch>
                  <a:fillRect l="-342" t="-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2" descr="6.png">
            <a:extLst>
              <a:ext uri="{FF2B5EF4-FFF2-40B4-BE49-F238E27FC236}">
                <a16:creationId xmlns:a16="http://schemas.microsoft.com/office/drawing/2014/main" id="{91400714-87FA-4143-AED5-02F7C83D3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35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8FD35-D230-406E-8687-60F2A2DE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75F4C-8D30-4A0A-96C5-F8302A842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endParaRPr lang="en-US" altLang="zh-CN" dirty="0"/>
          </a:p>
          <a:p>
            <a:r>
              <a:rPr lang="zh-CN" altLang="en-US" b="1" dirty="0"/>
              <a:t>拆分</a:t>
            </a:r>
            <a:endParaRPr lang="en-US" altLang="zh-CN" b="1" dirty="0"/>
          </a:p>
          <a:p>
            <a:r>
              <a:rPr lang="zh-CN" altLang="en-US" dirty="0"/>
              <a:t>组包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092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502EBEF3-F542-435E-82D3-C3550DAEA2BC}"/>
              </a:ext>
            </a:extLst>
          </p:cNvPr>
          <p:cNvGrpSpPr/>
          <p:nvPr/>
        </p:nvGrpSpPr>
        <p:grpSpPr>
          <a:xfrm>
            <a:off x="6019800" y="2514600"/>
            <a:ext cx="2133600" cy="2133600"/>
            <a:chOff x="5600699" y="2971800"/>
            <a:chExt cx="2133600" cy="2133600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104F693-5B70-40A2-A25A-F6006D46226F}"/>
                </a:ext>
              </a:extLst>
            </p:cNvPr>
            <p:cNvSpPr/>
            <p:nvPr/>
          </p:nvSpPr>
          <p:spPr bwMode="auto">
            <a:xfrm>
              <a:off x="5600699" y="2971800"/>
              <a:ext cx="2133600" cy="2133600"/>
            </a:xfrm>
            <a:prstGeom prst="rect">
              <a:avLst/>
            </a:prstGeom>
            <a:solidFill>
              <a:schemeClr val="accent5"/>
            </a:solidFill>
            <a:ln w="9525" cap="flat" cmpd="sng" algn="ctr">
              <a:solidFill>
                <a:schemeClr val="accent3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F688B62-723A-4B93-9B8A-DD91F31E42FF}"/>
                </a:ext>
              </a:extLst>
            </p:cNvPr>
            <p:cNvSpPr/>
            <p:nvPr/>
          </p:nvSpPr>
          <p:spPr bwMode="auto">
            <a:xfrm>
              <a:off x="5753099" y="3124200"/>
              <a:ext cx="1828800" cy="18288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accent3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AEB0CF6-A218-4F8A-A69F-2C6EE3755CCE}"/>
              </a:ext>
            </a:extLst>
          </p:cNvPr>
          <p:cNvGrpSpPr/>
          <p:nvPr/>
        </p:nvGrpSpPr>
        <p:grpSpPr>
          <a:xfrm>
            <a:off x="5791200" y="2743200"/>
            <a:ext cx="2133600" cy="2133600"/>
            <a:chOff x="5600699" y="2971800"/>
            <a:chExt cx="2133600" cy="2133600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9C977F7-1606-4F9B-A2D5-A69F3BDC539E}"/>
                </a:ext>
              </a:extLst>
            </p:cNvPr>
            <p:cNvSpPr/>
            <p:nvPr/>
          </p:nvSpPr>
          <p:spPr bwMode="auto">
            <a:xfrm>
              <a:off x="5600699" y="2971800"/>
              <a:ext cx="2133600" cy="2133600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25F0FDA-2762-4FB8-A019-93937360C2F2}"/>
                </a:ext>
              </a:extLst>
            </p:cNvPr>
            <p:cNvSpPr/>
            <p:nvPr/>
          </p:nvSpPr>
          <p:spPr bwMode="auto">
            <a:xfrm>
              <a:off x="5753099" y="3124200"/>
              <a:ext cx="1828800" cy="18288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60F65653-0A65-474E-A63A-071378F00177}"/>
              </a:ext>
            </a:extLst>
          </p:cNvPr>
          <p:cNvSpPr/>
          <p:nvPr/>
        </p:nvSpPr>
        <p:spPr bwMode="auto">
          <a:xfrm>
            <a:off x="1752600" y="2667000"/>
            <a:ext cx="1828800" cy="182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4B92B3-FF91-4F0F-9596-8DBF6697B510}"/>
              </a:ext>
            </a:extLst>
          </p:cNvPr>
          <p:cNvSpPr/>
          <p:nvPr/>
        </p:nvSpPr>
        <p:spPr bwMode="auto">
          <a:xfrm>
            <a:off x="1524000" y="2895600"/>
            <a:ext cx="1828800" cy="182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拆分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219200"/>
                <a:ext cx="8305800" cy="4800600"/>
              </a:xfrm>
            </p:spPr>
            <p:txBody>
              <a:bodyPr/>
              <a:lstStyle/>
              <a:p>
                <a:r>
                  <a:rPr lang="zh-CN" altLang="en-US" dirty="0"/>
                  <a:t>采集得到的图像为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224×224×3 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处理步骤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1. Zero Padding</a:t>
                </a:r>
                <a:r>
                  <a:rPr lang="zh-CN" altLang="en-US" dirty="0"/>
                  <a:t>，将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224×224×3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数据</m:t>
                    </m:r>
                  </m:oMath>
                </a14:m>
                <a:r>
                  <a:rPr lang="zh-CN" altLang="en-US" dirty="0"/>
                  <a:t>，左右</a:t>
                </a:r>
                <a:r>
                  <a:rPr lang="en-US" altLang="zh-CN" dirty="0"/>
                  <a:t>pad3</a:t>
                </a:r>
                <a:r>
                  <a:rPr lang="zh-CN" altLang="en-US" dirty="0"/>
                  <a:t>列零，上</a:t>
                </a:r>
                <a:r>
                  <a:rPr lang="en-US" altLang="zh-CN" dirty="0"/>
                  <a:t>pad3</a:t>
                </a:r>
                <a:r>
                  <a:rPr lang="zh-CN" altLang="en-US" dirty="0"/>
                  <a:t>下</a:t>
                </a:r>
                <a:r>
                  <a:rPr lang="en-US" altLang="zh-CN" dirty="0"/>
                  <a:t>pad2</a:t>
                </a:r>
                <a:r>
                  <a:rPr lang="zh-CN" altLang="en-US" dirty="0"/>
                  <a:t>行零，成为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229×230×3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219200"/>
                <a:ext cx="8305800" cy="4800600"/>
              </a:xfrm>
              <a:blipFill>
                <a:blip r:embed="rId2"/>
                <a:stretch>
                  <a:fillRect l="-367" t="-888" r="-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AutoShape 2" descr="6.png">
            <a:extLst>
              <a:ext uri="{FF2B5EF4-FFF2-40B4-BE49-F238E27FC236}">
                <a16:creationId xmlns:a16="http://schemas.microsoft.com/office/drawing/2014/main" id="{91400714-87FA-4143-AED5-02F7C83D3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E48042-416F-4F72-8BE9-881A4D3332A6}"/>
              </a:ext>
            </a:extLst>
          </p:cNvPr>
          <p:cNvSpPr/>
          <p:nvPr/>
        </p:nvSpPr>
        <p:spPr bwMode="auto">
          <a:xfrm>
            <a:off x="1295400" y="3124200"/>
            <a:ext cx="1828800" cy="1828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B49946-0476-4568-B0F8-A4B37AE465B7}"/>
              </a:ext>
            </a:extLst>
          </p:cNvPr>
          <p:cNvSpPr txBox="1"/>
          <p:nvPr/>
        </p:nvSpPr>
        <p:spPr>
          <a:xfrm>
            <a:off x="135472" y="3853934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H=224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3D6B89-6869-4068-A93B-4BEBE4D8B9F6}"/>
              </a:ext>
            </a:extLst>
          </p:cNvPr>
          <p:cNvSpPr txBox="1"/>
          <p:nvPr/>
        </p:nvSpPr>
        <p:spPr>
          <a:xfrm>
            <a:off x="1758950" y="533400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W=224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2253CB-FCA0-4AB6-BB93-70BBDB07D61E}"/>
              </a:ext>
            </a:extLst>
          </p:cNvPr>
          <p:cNvSpPr txBox="1"/>
          <p:nvPr/>
        </p:nvSpPr>
        <p:spPr>
          <a:xfrm>
            <a:off x="3505200" y="470380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C=3</a:t>
            </a:r>
            <a:endParaRPr lang="zh-CN" altLang="en-US" dirty="0"/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C6AEA9D9-CAD1-45E5-B7AD-61FCE72D7925}"/>
              </a:ext>
            </a:extLst>
          </p:cNvPr>
          <p:cNvSpPr/>
          <p:nvPr/>
        </p:nvSpPr>
        <p:spPr bwMode="auto">
          <a:xfrm>
            <a:off x="1066800" y="3124200"/>
            <a:ext cx="152400" cy="18288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1B66E1D0-C807-40C1-83DD-BD28AFC45600}"/>
              </a:ext>
            </a:extLst>
          </p:cNvPr>
          <p:cNvSpPr/>
          <p:nvPr/>
        </p:nvSpPr>
        <p:spPr bwMode="auto">
          <a:xfrm rot="16200000">
            <a:off x="2133600" y="4191000"/>
            <a:ext cx="152400" cy="18288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4A61F5C0-5C02-47D1-80E6-B082DE00FA50}"/>
              </a:ext>
            </a:extLst>
          </p:cNvPr>
          <p:cNvSpPr/>
          <p:nvPr/>
        </p:nvSpPr>
        <p:spPr bwMode="auto">
          <a:xfrm rot="13405581">
            <a:off x="3440574" y="4540900"/>
            <a:ext cx="111319" cy="521401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71F3B52-2BEE-4F1E-9302-382108FE0254}"/>
              </a:ext>
            </a:extLst>
          </p:cNvPr>
          <p:cNvGrpSpPr/>
          <p:nvPr/>
        </p:nvGrpSpPr>
        <p:grpSpPr>
          <a:xfrm>
            <a:off x="5600699" y="2971800"/>
            <a:ext cx="2133600" cy="2133600"/>
            <a:chOff x="5600699" y="2971800"/>
            <a:chExt cx="2133600" cy="21336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9EDCA87-C0A6-4259-94BD-BC43CDBD5C07}"/>
                </a:ext>
              </a:extLst>
            </p:cNvPr>
            <p:cNvSpPr/>
            <p:nvPr/>
          </p:nvSpPr>
          <p:spPr bwMode="auto">
            <a:xfrm>
              <a:off x="5600699" y="2971800"/>
              <a:ext cx="2133600" cy="2133600"/>
            </a:xfrm>
            <a:prstGeom prst="rect">
              <a:avLst/>
            </a:prstGeom>
            <a:solidFill>
              <a:srgbClr val="9FD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3711172-290D-4D65-A295-E1D0CFE6EFB5}"/>
                </a:ext>
              </a:extLst>
            </p:cNvPr>
            <p:cNvSpPr/>
            <p:nvPr/>
          </p:nvSpPr>
          <p:spPr bwMode="auto">
            <a:xfrm>
              <a:off x="5753099" y="3124200"/>
              <a:ext cx="1828800" cy="18288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42493D9E-E2D8-4525-96B7-4F7B7E30927D}"/>
              </a:ext>
            </a:extLst>
          </p:cNvPr>
          <p:cNvSpPr txBox="1"/>
          <p:nvPr/>
        </p:nvSpPr>
        <p:spPr>
          <a:xfrm>
            <a:off x="6369049" y="548640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W=230</a:t>
            </a:r>
            <a:endParaRPr lang="zh-CN" altLang="en-US" dirty="0"/>
          </a:p>
        </p:txBody>
      </p:sp>
      <p:sp>
        <p:nvSpPr>
          <p:cNvPr id="25" name="左大括号 24">
            <a:extLst>
              <a:ext uri="{FF2B5EF4-FFF2-40B4-BE49-F238E27FC236}">
                <a16:creationId xmlns:a16="http://schemas.microsoft.com/office/drawing/2014/main" id="{D60F794A-F12F-43BB-87F8-9D8DCBA03882}"/>
              </a:ext>
            </a:extLst>
          </p:cNvPr>
          <p:cNvSpPr/>
          <p:nvPr/>
        </p:nvSpPr>
        <p:spPr bwMode="auto">
          <a:xfrm rot="16200000">
            <a:off x="6591298" y="4179331"/>
            <a:ext cx="152402" cy="21336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162D92D0-896F-4121-9644-4D89202074CC}"/>
              </a:ext>
            </a:extLst>
          </p:cNvPr>
          <p:cNvSpPr/>
          <p:nvPr/>
        </p:nvSpPr>
        <p:spPr bwMode="auto">
          <a:xfrm>
            <a:off x="5306483" y="2971800"/>
            <a:ext cx="152402" cy="21336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661BE4-CD7E-4CE7-B558-4F867568085C}"/>
              </a:ext>
            </a:extLst>
          </p:cNvPr>
          <p:cNvSpPr txBox="1"/>
          <p:nvPr/>
        </p:nvSpPr>
        <p:spPr>
          <a:xfrm>
            <a:off x="4435732" y="3879334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H=229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9C4C6B-11D6-43E4-B003-E11D9027C17E}"/>
              </a:ext>
            </a:extLst>
          </p:cNvPr>
          <p:cNvSpPr txBox="1"/>
          <p:nvPr/>
        </p:nvSpPr>
        <p:spPr>
          <a:xfrm>
            <a:off x="8108727" y="488846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C=3</a:t>
            </a:r>
            <a:endParaRPr lang="zh-CN" altLang="en-US" dirty="0"/>
          </a:p>
        </p:txBody>
      </p:sp>
      <p:sp>
        <p:nvSpPr>
          <p:cNvPr id="29" name="左大括号 28">
            <a:extLst>
              <a:ext uri="{FF2B5EF4-FFF2-40B4-BE49-F238E27FC236}">
                <a16:creationId xmlns:a16="http://schemas.microsoft.com/office/drawing/2014/main" id="{D04D15DE-6D49-45B6-BBDD-07A1AF509905}"/>
              </a:ext>
            </a:extLst>
          </p:cNvPr>
          <p:cNvSpPr/>
          <p:nvPr/>
        </p:nvSpPr>
        <p:spPr bwMode="auto">
          <a:xfrm rot="13405581">
            <a:off x="8044101" y="4725566"/>
            <a:ext cx="111319" cy="521401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84E4A4AB-6927-4E18-9886-A506F0855707}"/>
              </a:ext>
            </a:extLst>
          </p:cNvPr>
          <p:cNvSpPr/>
          <p:nvPr/>
        </p:nvSpPr>
        <p:spPr bwMode="auto">
          <a:xfrm>
            <a:off x="3886200" y="3853934"/>
            <a:ext cx="459737" cy="369332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7918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拆分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219200"/>
                <a:ext cx="8305800" cy="4800600"/>
              </a:xfrm>
            </p:spPr>
            <p:txBody>
              <a:bodyPr/>
              <a:lstStyle/>
              <a:p>
                <a:r>
                  <a:rPr lang="zh-CN" altLang="en-US" dirty="0"/>
                  <a:t>处理步骤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2. </a:t>
                </a:r>
                <a:r>
                  <a:rPr lang="zh-CN" altLang="en-US" dirty="0"/>
                  <a:t>拆分（以下仅以一个通道为例，其他通道相同）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2.1 </a:t>
                </a:r>
                <a:r>
                  <a:rPr lang="zh-CN" altLang="en-US" dirty="0"/>
                  <a:t>列拆分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0:229, 0:230, 0:3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0:229, 0:128, 0:3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0:229, 102:230, 0:3</m:t>
                        </m:r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219200"/>
                <a:ext cx="8305800" cy="4800600"/>
              </a:xfrm>
              <a:blipFill>
                <a:blip r:embed="rId2"/>
                <a:stretch>
                  <a:fillRect l="-367" t="-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9100" y="5779529"/>
            <a:ext cx="8305800" cy="755403"/>
          </a:xfrm>
        </p:spPr>
        <p:txBody>
          <a:bodyPr/>
          <a:lstStyle/>
          <a:p>
            <a:r>
              <a:rPr lang="zh-CN" altLang="en-US" sz="1600" dirty="0">
                <a:solidFill>
                  <a:srgbClr val="FF0000"/>
                </a:solidFill>
              </a:rPr>
              <a:t>相当于竖着切开，数据成了两份。但是要注意的是，两部分数据中间是有交叠的，就是中间有一些列的数据既属于左边，也属于右边</a:t>
            </a:r>
          </a:p>
          <a:p>
            <a:endParaRPr lang="zh-CN" altLang="en-US" sz="16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9EDCA87-C0A6-4259-94BD-BC43CDBD5C07}"/>
              </a:ext>
            </a:extLst>
          </p:cNvPr>
          <p:cNvSpPr/>
          <p:nvPr/>
        </p:nvSpPr>
        <p:spPr bwMode="auto">
          <a:xfrm>
            <a:off x="907204" y="3004431"/>
            <a:ext cx="2133600" cy="2133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493D9E-E2D8-4525-96B7-4F7B7E30927D}"/>
              </a:ext>
            </a:extLst>
          </p:cNvPr>
          <p:cNvSpPr txBox="1"/>
          <p:nvPr/>
        </p:nvSpPr>
        <p:spPr>
          <a:xfrm>
            <a:off x="1516804" y="5366631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W=230</a:t>
            </a:r>
            <a:endParaRPr lang="zh-CN" altLang="en-US" dirty="0"/>
          </a:p>
        </p:txBody>
      </p:sp>
      <p:sp>
        <p:nvSpPr>
          <p:cNvPr id="25" name="左大括号 24">
            <a:extLst>
              <a:ext uri="{FF2B5EF4-FFF2-40B4-BE49-F238E27FC236}">
                <a16:creationId xmlns:a16="http://schemas.microsoft.com/office/drawing/2014/main" id="{D60F794A-F12F-43BB-87F8-9D8DCBA03882}"/>
              </a:ext>
            </a:extLst>
          </p:cNvPr>
          <p:cNvSpPr/>
          <p:nvPr/>
        </p:nvSpPr>
        <p:spPr bwMode="auto">
          <a:xfrm rot="16200000">
            <a:off x="1897803" y="4211962"/>
            <a:ext cx="152402" cy="21336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162D92D0-896F-4121-9644-4D89202074CC}"/>
              </a:ext>
            </a:extLst>
          </p:cNvPr>
          <p:cNvSpPr/>
          <p:nvPr/>
        </p:nvSpPr>
        <p:spPr bwMode="auto">
          <a:xfrm>
            <a:off x="678604" y="3004431"/>
            <a:ext cx="152402" cy="21336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661BE4-CD7E-4CE7-B558-4F867568085C}"/>
              </a:ext>
            </a:extLst>
          </p:cNvPr>
          <p:cNvSpPr txBox="1"/>
          <p:nvPr/>
        </p:nvSpPr>
        <p:spPr>
          <a:xfrm>
            <a:off x="-115947" y="391196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H=229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D3233D-3DCC-418F-BB37-34152FCE80F0}"/>
              </a:ext>
            </a:extLst>
          </p:cNvPr>
          <p:cNvSpPr/>
          <p:nvPr/>
        </p:nvSpPr>
        <p:spPr bwMode="auto">
          <a:xfrm>
            <a:off x="3610180" y="3004431"/>
            <a:ext cx="2133600" cy="2133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38C8FBB-6FBA-4561-8E27-47B5559AE88C}"/>
              </a:ext>
            </a:extLst>
          </p:cNvPr>
          <p:cNvSpPr txBox="1"/>
          <p:nvPr/>
        </p:nvSpPr>
        <p:spPr>
          <a:xfrm>
            <a:off x="4219780" y="5366631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W=230</a:t>
            </a:r>
            <a:endParaRPr lang="zh-CN" altLang="en-US" dirty="0"/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2FAB92D1-D41C-42E6-85EA-62559BB93598}"/>
              </a:ext>
            </a:extLst>
          </p:cNvPr>
          <p:cNvSpPr/>
          <p:nvPr/>
        </p:nvSpPr>
        <p:spPr bwMode="auto">
          <a:xfrm rot="16200000">
            <a:off x="4600779" y="4211962"/>
            <a:ext cx="152402" cy="21336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CF07B82D-D1CD-4A9A-9CC4-1DC8300C2B5B}"/>
              </a:ext>
            </a:extLst>
          </p:cNvPr>
          <p:cNvSpPr/>
          <p:nvPr/>
        </p:nvSpPr>
        <p:spPr bwMode="auto">
          <a:xfrm>
            <a:off x="3100766" y="3267453"/>
            <a:ext cx="459737" cy="369332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1B94D6EC-A101-4D61-952B-2ABE0BC8A941}"/>
              </a:ext>
            </a:extLst>
          </p:cNvPr>
          <p:cNvSpPr/>
          <p:nvPr/>
        </p:nvSpPr>
        <p:spPr bwMode="auto">
          <a:xfrm rot="5400000">
            <a:off x="4162052" y="2218124"/>
            <a:ext cx="152401" cy="125614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B28368EA-5D9B-4AD4-B5A5-00D370016C2F}"/>
              </a:ext>
            </a:extLst>
          </p:cNvPr>
          <p:cNvSpPr/>
          <p:nvPr/>
        </p:nvSpPr>
        <p:spPr bwMode="auto">
          <a:xfrm rot="5400000">
            <a:off x="5022484" y="2037032"/>
            <a:ext cx="186446" cy="125614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33DD23-2AAF-4337-86E7-BA4092AAAFB8}"/>
                  </a:ext>
                </a:extLst>
              </p:cNvPr>
              <p:cNvSpPr txBox="1"/>
              <p:nvPr/>
            </p:nvSpPr>
            <p:spPr>
              <a:xfrm>
                <a:off x="3769168" y="2547916"/>
                <a:ext cx="7184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[0,128)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33DD23-2AAF-4337-86E7-BA4092AAA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168" y="2547916"/>
                <a:ext cx="718466" cy="27699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1374501-C3B7-4D41-A5B3-B72918C63DA2}"/>
                  </a:ext>
                </a:extLst>
              </p:cNvPr>
              <p:cNvSpPr txBox="1"/>
              <p:nvPr/>
            </p:nvSpPr>
            <p:spPr>
              <a:xfrm>
                <a:off x="4782594" y="2281998"/>
                <a:ext cx="8883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[102,230)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1374501-C3B7-4D41-A5B3-B72918C63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594" y="2281998"/>
                <a:ext cx="888385" cy="276999"/>
              </a:xfrm>
              <a:prstGeom prst="rect">
                <a:avLst/>
              </a:prstGeom>
              <a:blipFill>
                <a:blip r:embed="rId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A3698270-7F20-47B8-A28B-7B4E2B3EC779}"/>
              </a:ext>
            </a:extLst>
          </p:cNvPr>
          <p:cNvSpPr/>
          <p:nvPr/>
        </p:nvSpPr>
        <p:spPr bwMode="auto">
          <a:xfrm>
            <a:off x="7717444" y="2796061"/>
            <a:ext cx="1256146" cy="2133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FBFB9B-2810-450A-9CA5-172F2DFCBF64}"/>
              </a:ext>
            </a:extLst>
          </p:cNvPr>
          <p:cNvSpPr/>
          <p:nvPr/>
        </p:nvSpPr>
        <p:spPr bwMode="auto">
          <a:xfrm>
            <a:off x="6839990" y="3036329"/>
            <a:ext cx="1256146" cy="2133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765BD1-3476-4A49-8249-316808038AC1}"/>
              </a:ext>
            </a:extLst>
          </p:cNvPr>
          <p:cNvSpPr txBox="1"/>
          <p:nvPr/>
        </p:nvSpPr>
        <p:spPr>
          <a:xfrm>
            <a:off x="7449590" y="5398529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/>
              <a:t>W=230</a:t>
            </a:r>
            <a:endParaRPr lang="zh-CN" altLang="en-US" dirty="0"/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932587CA-21AE-413E-8C41-A95D46D2ACC1}"/>
              </a:ext>
            </a:extLst>
          </p:cNvPr>
          <p:cNvSpPr/>
          <p:nvPr/>
        </p:nvSpPr>
        <p:spPr bwMode="auto">
          <a:xfrm rot="16200000">
            <a:off x="7830589" y="4243860"/>
            <a:ext cx="152402" cy="21336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8D9E84AD-37F2-4C15-8DD1-E29C01ED62C0}"/>
              </a:ext>
            </a:extLst>
          </p:cNvPr>
          <p:cNvSpPr/>
          <p:nvPr/>
        </p:nvSpPr>
        <p:spPr bwMode="auto">
          <a:xfrm rot="5400000">
            <a:off x="7391862" y="2250022"/>
            <a:ext cx="152401" cy="125614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6C912DF6-7609-45F9-AC6D-67CD70A26E35}"/>
              </a:ext>
            </a:extLst>
          </p:cNvPr>
          <p:cNvSpPr/>
          <p:nvPr/>
        </p:nvSpPr>
        <p:spPr bwMode="auto">
          <a:xfrm rot="5400000">
            <a:off x="8252294" y="2068930"/>
            <a:ext cx="186446" cy="125614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26DCA9A-F8E3-4C25-858A-783DD33691EE}"/>
                  </a:ext>
                </a:extLst>
              </p:cNvPr>
              <p:cNvSpPr txBox="1"/>
              <p:nvPr/>
            </p:nvSpPr>
            <p:spPr>
              <a:xfrm>
                <a:off x="6998978" y="2579814"/>
                <a:ext cx="7184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[0,128)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26DCA9A-F8E3-4C25-858A-783DD3369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978" y="2579814"/>
                <a:ext cx="718466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A5053DD-C0C1-462B-B48B-CCDF40A069D4}"/>
                  </a:ext>
                </a:extLst>
              </p:cNvPr>
              <p:cNvSpPr txBox="1"/>
              <p:nvPr/>
            </p:nvSpPr>
            <p:spPr>
              <a:xfrm>
                <a:off x="8012404" y="2313896"/>
                <a:ext cx="8883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[102,230)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A5053DD-C0C1-462B-B48B-CCDF40A06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404" y="2313896"/>
                <a:ext cx="888385" cy="276999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C4EC931-442A-4305-920C-F78713B144A4}"/>
              </a:ext>
            </a:extLst>
          </p:cNvPr>
          <p:cNvCxnSpPr/>
          <p:nvPr/>
        </p:nvCxnSpPr>
        <p:spPr bwMode="auto">
          <a:xfrm>
            <a:off x="5773537" y="3636911"/>
            <a:ext cx="10287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5FAC8F4-F8FA-40A6-AADC-0BDE979A90AC}"/>
              </a:ext>
            </a:extLst>
          </p:cNvPr>
          <p:cNvSpPr txBox="1"/>
          <p:nvPr/>
        </p:nvSpPr>
        <p:spPr>
          <a:xfrm>
            <a:off x="5846777" y="30596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dirty="0"/>
              <a:t>相当于</a:t>
            </a:r>
          </a:p>
        </p:txBody>
      </p:sp>
    </p:spTree>
    <p:extLst>
      <p:ext uri="{BB962C8B-B14F-4D97-AF65-F5344CB8AC3E}">
        <p14:creationId xmlns:p14="http://schemas.microsoft.com/office/powerpoint/2010/main" val="4225587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拆分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68B2F-5AD6-40CF-93C4-A5563A3BD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19200"/>
            <a:ext cx="8305800" cy="4800600"/>
          </a:xfrm>
        </p:spPr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/>
              <a:t>RGB</a:t>
            </a:r>
            <a:r>
              <a:rPr lang="zh-CN" altLang="en-US" dirty="0"/>
              <a:t>三通道分别进行上面的拆分，得到六部分数据：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85800" y="5640266"/>
            <a:ext cx="8305800" cy="397899"/>
          </a:xfrm>
        </p:spPr>
        <p:txBody>
          <a:bodyPr/>
          <a:lstStyle/>
          <a:p>
            <a:r>
              <a:rPr lang="en-US" altLang="zh-CN" sz="1400" dirty="0">
                <a:solidFill>
                  <a:srgbClr val="FF0000"/>
                </a:solidFill>
              </a:rPr>
              <a:t>RGB</a:t>
            </a:r>
            <a:r>
              <a:rPr lang="zh-CN" altLang="en-US" sz="1400" dirty="0">
                <a:solidFill>
                  <a:srgbClr val="FF0000"/>
                </a:solidFill>
              </a:rPr>
              <a:t>每个通道按上一页中的拆分，每个通道分别得到一个“高度</a:t>
            </a:r>
            <a:r>
              <a:rPr lang="en-US" altLang="zh-CN" sz="1400" dirty="0">
                <a:solidFill>
                  <a:srgbClr val="FF0000"/>
                </a:solidFill>
              </a:rPr>
              <a:t>[0, 229)</a:t>
            </a:r>
            <a:r>
              <a:rPr lang="zh-CN" altLang="en-US" sz="1400" dirty="0">
                <a:solidFill>
                  <a:srgbClr val="FF0000"/>
                </a:solidFill>
              </a:rPr>
              <a:t>，宽度</a:t>
            </a:r>
            <a:r>
              <a:rPr lang="en-US" altLang="zh-CN" sz="1400" dirty="0">
                <a:solidFill>
                  <a:srgbClr val="FF0000"/>
                </a:solidFill>
              </a:rPr>
              <a:t>[0, 128)</a:t>
            </a:r>
            <a:r>
              <a:rPr lang="zh-CN" altLang="en-US" sz="1400" dirty="0">
                <a:solidFill>
                  <a:srgbClr val="FF0000"/>
                </a:solidFill>
              </a:rPr>
              <a:t>”和一个“高度</a:t>
            </a:r>
            <a:r>
              <a:rPr lang="en-US" altLang="zh-CN" sz="1400" dirty="0">
                <a:solidFill>
                  <a:srgbClr val="FF0000"/>
                </a:solidFill>
              </a:rPr>
              <a:t>[0, 229)</a:t>
            </a:r>
            <a:r>
              <a:rPr lang="zh-CN" altLang="en-US" sz="1400" dirty="0">
                <a:solidFill>
                  <a:srgbClr val="FF0000"/>
                </a:solidFill>
              </a:rPr>
              <a:t>，宽度</a:t>
            </a:r>
            <a:r>
              <a:rPr lang="en-US" altLang="zh-CN" sz="1400" dirty="0">
                <a:solidFill>
                  <a:srgbClr val="FF0000"/>
                </a:solidFill>
              </a:rPr>
              <a:t>[102, 230)</a:t>
            </a:r>
            <a:r>
              <a:rPr lang="zh-CN" altLang="en-US" sz="1400" dirty="0">
                <a:solidFill>
                  <a:srgbClr val="FF0000"/>
                </a:solidFill>
              </a:rPr>
              <a:t>”的两个部分。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对这六部分分别编号为（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  <a:r>
              <a:rPr lang="en-US" altLang="zh-CN" sz="1400" dirty="0">
                <a:solidFill>
                  <a:srgbClr val="FF0000"/>
                </a:solidFill>
              </a:rPr>
              <a:t>~</a:t>
            </a:r>
            <a:r>
              <a:rPr lang="zh-CN" altLang="en-US" sz="1400" dirty="0">
                <a:solidFill>
                  <a:srgbClr val="FF0000"/>
                </a:solidFill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</a:rPr>
              <a:t>6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D3233D-3DCC-418F-BB37-34152FCE80F0}"/>
              </a:ext>
            </a:extLst>
          </p:cNvPr>
          <p:cNvSpPr/>
          <p:nvPr/>
        </p:nvSpPr>
        <p:spPr bwMode="auto">
          <a:xfrm>
            <a:off x="2873309" y="2045271"/>
            <a:ext cx="1028700" cy="10287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R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38C8FBB-6FBA-4561-8E27-47B5559AE88C}"/>
              </a:ext>
            </a:extLst>
          </p:cNvPr>
          <p:cNvSpPr txBox="1"/>
          <p:nvPr/>
        </p:nvSpPr>
        <p:spPr>
          <a:xfrm>
            <a:off x="3444484" y="1553081"/>
            <a:ext cx="675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200" dirty="0"/>
              <a:t>W=230</a:t>
            </a:r>
            <a:endParaRPr lang="zh-CN" altLang="en-US" sz="1200" dirty="0"/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2FAB92D1-D41C-42E6-85EA-62559BB93598}"/>
              </a:ext>
            </a:extLst>
          </p:cNvPr>
          <p:cNvSpPr/>
          <p:nvPr/>
        </p:nvSpPr>
        <p:spPr bwMode="auto">
          <a:xfrm rot="16200000" flipH="1">
            <a:off x="3249160" y="1411400"/>
            <a:ext cx="276999" cy="929694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D0594E05-75A8-4D0A-8DC7-74A16EC05451}"/>
              </a:ext>
            </a:extLst>
          </p:cNvPr>
          <p:cNvSpPr/>
          <p:nvPr/>
        </p:nvSpPr>
        <p:spPr bwMode="auto">
          <a:xfrm>
            <a:off x="2526608" y="2089981"/>
            <a:ext cx="304798" cy="979078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AE2C547-3A96-402D-BCE0-3A98012DDD11}"/>
              </a:ext>
            </a:extLst>
          </p:cNvPr>
          <p:cNvSpPr txBox="1"/>
          <p:nvPr/>
        </p:nvSpPr>
        <p:spPr>
          <a:xfrm>
            <a:off x="1877381" y="2416209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200" dirty="0"/>
              <a:t>H=229</a:t>
            </a:r>
            <a:endParaRPr lang="zh-CN" altLang="en-US" sz="1200" dirty="0"/>
          </a:p>
        </p:txBody>
      </p: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1B94D6EC-A101-4D61-952B-2ABE0BC8A941}"/>
              </a:ext>
            </a:extLst>
          </p:cNvPr>
          <p:cNvSpPr/>
          <p:nvPr/>
        </p:nvSpPr>
        <p:spPr bwMode="auto">
          <a:xfrm rot="5400000" flipH="1">
            <a:off x="2456909" y="4859956"/>
            <a:ext cx="159868" cy="60959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33DD23-2AAF-4337-86E7-BA4092AAAFB8}"/>
                  </a:ext>
                </a:extLst>
              </p:cNvPr>
              <p:cNvSpPr txBox="1"/>
              <p:nvPr/>
            </p:nvSpPr>
            <p:spPr>
              <a:xfrm>
                <a:off x="2226353" y="5247459"/>
                <a:ext cx="7184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[0,128)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D33DD23-2AAF-4337-86E7-BA4092AAA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353" y="5247459"/>
                <a:ext cx="718466" cy="27699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1374501-C3B7-4D41-A5B3-B72918C63DA2}"/>
                  </a:ext>
                </a:extLst>
              </p:cNvPr>
              <p:cNvSpPr txBox="1"/>
              <p:nvPr/>
            </p:nvSpPr>
            <p:spPr>
              <a:xfrm>
                <a:off x="3162390" y="5270831"/>
                <a:ext cx="8883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[102,230)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1374501-C3B7-4D41-A5B3-B72918C63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390" y="5270831"/>
                <a:ext cx="888385" cy="27699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DAA28827-00FD-4D00-BBB2-F0B5907BDA38}"/>
              </a:ext>
            </a:extLst>
          </p:cNvPr>
          <p:cNvSpPr/>
          <p:nvPr/>
        </p:nvSpPr>
        <p:spPr bwMode="auto">
          <a:xfrm>
            <a:off x="4291734" y="2040359"/>
            <a:ext cx="1028700" cy="10287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G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501DCC-D7F4-4A1A-B56B-0AF7ADB5AEAF}"/>
              </a:ext>
            </a:extLst>
          </p:cNvPr>
          <p:cNvSpPr/>
          <p:nvPr/>
        </p:nvSpPr>
        <p:spPr bwMode="auto">
          <a:xfrm>
            <a:off x="5807009" y="2040359"/>
            <a:ext cx="1028700" cy="10287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B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33860F0-355D-439F-A765-13E8A7D4EB68}"/>
              </a:ext>
            </a:extLst>
          </p:cNvPr>
          <p:cNvSpPr/>
          <p:nvPr/>
        </p:nvSpPr>
        <p:spPr bwMode="auto">
          <a:xfrm>
            <a:off x="2197340" y="3964279"/>
            <a:ext cx="675969" cy="10287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（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1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FB9E926-C562-49CD-820D-3D8C075DAB93}"/>
              </a:ext>
            </a:extLst>
          </p:cNvPr>
          <p:cNvSpPr/>
          <p:nvPr/>
        </p:nvSpPr>
        <p:spPr bwMode="auto">
          <a:xfrm>
            <a:off x="3226040" y="3969645"/>
            <a:ext cx="675969" cy="10287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（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2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84C217D-DC3A-4C31-96BA-5FB12168F867}"/>
              </a:ext>
            </a:extLst>
          </p:cNvPr>
          <p:cNvSpPr/>
          <p:nvPr/>
        </p:nvSpPr>
        <p:spPr bwMode="auto">
          <a:xfrm>
            <a:off x="4192914" y="3956540"/>
            <a:ext cx="607686" cy="10287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（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3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17464D7-CBB5-4F54-96ED-1EFC2604605C}"/>
              </a:ext>
            </a:extLst>
          </p:cNvPr>
          <p:cNvSpPr/>
          <p:nvPr/>
        </p:nvSpPr>
        <p:spPr bwMode="auto">
          <a:xfrm>
            <a:off x="5072563" y="3949452"/>
            <a:ext cx="607686" cy="10287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（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4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8883819-1E63-4CF3-B1D0-4CC34D3F4B3E}"/>
              </a:ext>
            </a:extLst>
          </p:cNvPr>
          <p:cNvSpPr/>
          <p:nvPr/>
        </p:nvSpPr>
        <p:spPr bwMode="auto">
          <a:xfrm>
            <a:off x="5979704" y="3964279"/>
            <a:ext cx="607686" cy="10287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（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5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）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EA63B72-3C87-48C5-92F8-36C6C3DA6383}"/>
              </a:ext>
            </a:extLst>
          </p:cNvPr>
          <p:cNvSpPr/>
          <p:nvPr/>
        </p:nvSpPr>
        <p:spPr bwMode="auto">
          <a:xfrm>
            <a:off x="6885383" y="3956540"/>
            <a:ext cx="607686" cy="10287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（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6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A7F6DC6-C535-4C35-860F-46910615C026}"/>
              </a:ext>
            </a:extLst>
          </p:cNvPr>
          <p:cNvCxnSpPr/>
          <p:nvPr/>
        </p:nvCxnSpPr>
        <p:spPr bwMode="auto">
          <a:xfrm flipH="1">
            <a:off x="2679007" y="3200400"/>
            <a:ext cx="547033" cy="5334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080F8CC-CDB7-468F-85E0-6ADB09D66174}"/>
              </a:ext>
            </a:extLst>
          </p:cNvPr>
          <p:cNvCxnSpPr/>
          <p:nvPr/>
        </p:nvCxnSpPr>
        <p:spPr bwMode="auto">
          <a:xfrm>
            <a:off x="3387659" y="3195488"/>
            <a:ext cx="176365" cy="59525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97407AA-4EB3-4BA9-A5B6-E25B53B97CB3}"/>
              </a:ext>
            </a:extLst>
          </p:cNvPr>
          <p:cNvCxnSpPr/>
          <p:nvPr/>
        </p:nvCxnSpPr>
        <p:spPr bwMode="auto">
          <a:xfrm flipH="1">
            <a:off x="4496757" y="3252873"/>
            <a:ext cx="151443" cy="61623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007F69B-3707-4FE5-B04F-0FAB24456F0F}"/>
              </a:ext>
            </a:extLst>
          </p:cNvPr>
          <p:cNvCxnSpPr/>
          <p:nvPr/>
        </p:nvCxnSpPr>
        <p:spPr bwMode="auto">
          <a:xfrm>
            <a:off x="4800600" y="3234508"/>
            <a:ext cx="575806" cy="62411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CEFF202-E3AA-46D0-82D8-2E6D11263554}"/>
              </a:ext>
            </a:extLst>
          </p:cNvPr>
          <p:cNvCxnSpPr/>
          <p:nvPr/>
        </p:nvCxnSpPr>
        <p:spPr bwMode="auto">
          <a:xfrm flipH="1">
            <a:off x="6283547" y="3166980"/>
            <a:ext cx="115100" cy="61827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D5D79A5-859B-4C18-BBAF-4D4CF52F3258}"/>
              </a:ext>
            </a:extLst>
          </p:cNvPr>
          <p:cNvCxnSpPr/>
          <p:nvPr/>
        </p:nvCxnSpPr>
        <p:spPr bwMode="auto">
          <a:xfrm>
            <a:off x="6621531" y="3248080"/>
            <a:ext cx="567695" cy="63509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4B8AB790-140D-488B-8B89-EE479E6F3F45}"/>
              </a:ext>
            </a:extLst>
          </p:cNvPr>
          <p:cNvSpPr/>
          <p:nvPr/>
        </p:nvSpPr>
        <p:spPr bwMode="auto">
          <a:xfrm rot="5400000" flipH="1">
            <a:off x="3467377" y="4851957"/>
            <a:ext cx="159868" cy="60959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A96A55C8-E43A-4F8E-9975-DE4E81B532D8}"/>
              </a:ext>
            </a:extLst>
          </p:cNvPr>
          <p:cNvSpPr/>
          <p:nvPr/>
        </p:nvSpPr>
        <p:spPr bwMode="auto">
          <a:xfrm rot="5400000" flipH="1">
            <a:off x="4415868" y="4862554"/>
            <a:ext cx="159868" cy="60959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3" name="左大括号 52">
            <a:extLst>
              <a:ext uri="{FF2B5EF4-FFF2-40B4-BE49-F238E27FC236}">
                <a16:creationId xmlns:a16="http://schemas.microsoft.com/office/drawing/2014/main" id="{D56EA067-BE0A-4723-8F2D-F7DF6FC42707}"/>
              </a:ext>
            </a:extLst>
          </p:cNvPr>
          <p:cNvSpPr/>
          <p:nvPr/>
        </p:nvSpPr>
        <p:spPr bwMode="auto">
          <a:xfrm rot="5400000" flipH="1">
            <a:off x="5297427" y="4873068"/>
            <a:ext cx="159868" cy="60959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4" name="左大括号 53">
            <a:extLst>
              <a:ext uri="{FF2B5EF4-FFF2-40B4-BE49-F238E27FC236}">
                <a16:creationId xmlns:a16="http://schemas.microsoft.com/office/drawing/2014/main" id="{BB4A61C3-6402-4E09-9E9D-FA05343E989F}"/>
              </a:ext>
            </a:extLst>
          </p:cNvPr>
          <p:cNvSpPr/>
          <p:nvPr/>
        </p:nvSpPr>
        <p:spPr bwMode="auto">
          <a:xfrm rot="5400000" flipH="1">
            <a:off x="6256823" y="4873068"/>
            <a:ext cx="159868" cy="60959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5" name="左大括号 54">
            <a:extLst>
              <a:ext uri="{FF2B5EF4-FFF2-40B4-BE49-F238E27FC236}">
                <a16:creationId xmlns:a16="http://schemas.microsoft.com/office/drawing/2014/main" id="{AF4D9FF1-F489-4033-85AC-02E0BEFFD12E}"/>
              </a:ext>
            </a:extLst>
          </p:cNvPr>
          <p:cNvSpPr/>
          <p:nvPr/>
        </p:nvSpPr>
        <p:spPr bwMode="auto">
          <a:xfrm rot="5400000" flipH="1">
            <a:off x="7157789" y="4873068"/>
            <a:ext cx="159868" cy="609596"/>
          </a:xfrm>
          <a:prstGeom prst="leftBrac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816431B-478A-4ECD-ABCF-E54DF1852A44}"/>
                  </a:ext>
                </a:extLst>
              </p:cNvPr>
              <p:cNvSpPr txBox="1"/>
              <p:nvPr/>
            </p:nvSpPr>
            <p:spPr>
              <a:xfrm>
                <a:off x="4165345" y="5257800"/>
                <a:ext cx="7184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[0,128)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816431B-478A-4ECD-ABCF-E54DF1852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345" y="5257800"/>
                <a:ext cx="718466" cy="276999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77D6AEB-1CE0-4E41-B150-CD58EAF26775}"/>
                  </a:ext>
                </a:extLst>
              </p:cNvPr>
              <p:cNvSpPr txBox="1"/>
              <p:nvPr/>
            </p:nvSpPr>
            <p:spPr>
              <a:xfrm>
                <a:off x="5981611" y="5257800"/>
                <a:ext cx="7184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[0,128)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77D6AEB-1CE0-4E41-B150-CD58EAF26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611" y="5257800"/>
                <a:ext cx="718466" cy="276999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4A8DF8B-5D40-4127-BC4E-1123916D30CB}"/>
                  </a:ext>
                </a:extLst>
              </p:cNvPr>
              <p:cNvSpPr txBox="1"/>
              <p:nvPr/>
            </p:nvSpPr>
            <p:spPr>
              <a:xfrm>
                <a:off x="4941980" y="5270831"/>
                <a:ext cx="8883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[102,230)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4A8DF8B-5D40-4127-BC4E-1123916D3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980" y="5270831"/>
                <a:ext cx="888385" cy="27699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64F643-FC88-4C5F-A977-5005253294B3}"/>
                  </a:ext>
                </a:extLst>
              </p:cNvPr>
              <p:cNvSpPr txBox="1"/>
              <p:nvPr/>
            </p:nvSpPr>
            <p:spPr>
              <a:xfrm>
                <a:off x="6794065" y="5302309"/>
                <a:ext cx="8883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[102,230)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64F643-FC88-4C5F-A977-500525329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065" y="5302309"/>
                <a:ext cx="888385" cy="27699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89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拆分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219200"/>
                <a:ext cx="8305800" cy="4800600"/>
              </a:xfrm>
            </p:spPr>
            <p:txBody>
              <a:bodyPr/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）每个部分按</a:t>
                </a:r>
                <a:r>
                  <a:rPr lang="en-US" altLang="zh-CN" dirty="0"/>
                  <a:t>0x81</a:t>
                </a:r>
                <a:r>
                  <a:rPr lang="zh-CN" altLang="en-US" dirty="0"/>
                  <a:t>原语存储方式存为一维数据，每个的长度都应该是：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229×128=29312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𝐵𝑦𝑡𝑒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219200"/>
                <a:ext cx="8305800" cy="4800600"/>
              </a:xfrm>
              <a:blipFill>
                <a:blip r:embed="rId2"/>
                <a:stretch>
                  <a:fillRect l="-367" t="-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815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8FD35-D230-406E-8687-60F2A2DE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75F4C-8D30-4A0A-96C5-F8302A842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预处理</a:t>
            </a:r>
            <a:endParaRPr lang="en-US" altLang="zh-CN" dirty="0"/>
          </a:p>
          <a:p>
            <a:r>
              <a:rPr lang="zh-CN" altLang="en-US" dirty="0"/>
              <a:t>拆分</a:t>
            </a:r>
            <a:endParaRPr lang="en-US" altLang="zh-CN" dirty="0"/>
          </a:p>
          <a:p>
            <a:r>
              <a:rPr lang="zh-CN" altLang="en-US" b="1" dirty="0"/>
              <a:t>组包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27163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组包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219200"/>
                <a:ext cx="4533900" cy="4800600"/>
              </a:xfrm>
            </p:spPr>
            <p:txBody>
              <a:bodyPr/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）每个部分按</a:t>
                </a:r>
                <a:r>
                  <a:rPr lang="en-US" altLang="zh-CN" dirty="0"/>
                  <a:t>0x81</a:t>
                </a:r>
                <a:r>
                  <a:rPr lang="zh-CN" altLang="en-US" dirty="0"/>
                  <a:t>原语存储方式存为一维数据，每个的长度都应该是：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229×128=29312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𝐵𝑦𝑡𝑒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）的数据分别发送到（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中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Phase 1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发送（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）数据中的前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9856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77*128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r>
                  <a:rPr lang="en-US" altLang="zh-CN" dirty="0"/>
                  <a:t>Byte</a:t>
                </a:r>
                <a:r>
                  <a:rPr lang="zh-CN" altLang="en-US" dirty="0"/>
                  <a:t>数据给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---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9776Byte</a:t>
                </a:r>
                <a:r>
                  <a:rPr lang="zh-CN" altLang="en-US" dirty="0"/>
                  <a:t>数据可以组</a:t>
                </a:r>
                <a:r>
                  <a:rPr lang="en-US" altLang="zh-CN" dirty="0"/>
                  <a:t>1222</a:t>
                </a:r>
                <a:r>
                  <a:rPr lang="zh-CN" altLang="en-US" dirty="0"/>
                  <a:t>个路由包）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其他同理：发送（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）数据中的前</a:t>
                </a:r>
                <a:r>
                  <a:rPr lang="en-US" altLang="zh-CN" dirty="0"/>
                  <a:t>9776Byte</a:t>
                </a:r>
                <a:r>
                  <a:rPr lang="zh-CN" altLang="en-US" dirty="0"/>
                  <a:t>数据分别给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~Core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219200"/>
                <a:ext cx="4533900" cy="4800600"/>
              </a:xfrm>
              <a:blipFill>
                <a:blip r:embed="rId2"/>
                <a:stretch>
                  <a:fillRect l="-672" t="-888" r="-269" b="-5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791200" y="4343401"/>
            <a:ext cx="2933700" cy="2191532"/>
          </a:xfrm>
        </p:spPr>
        <p:txBody>
          <a:bodyPr/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这六块数据，最终的目的是分别发送到六个</a:t>
            </a:r>
            <a:r>
              <a:rPr lang="en-US" altLang="zh-CN" sz="1400" dirty="0">
                <a:solidFill>
                  <a:srgbClr val="FF0000"/>
                </a:solidFill>
              </a:rPr>
              <a:t>Core</a:t>
            </a:r>
            <a:r>
              <a:rPr lang="zh-CN" altLang="en-US" sz="1400" dirty="0">
                <a:solidFill>
                  <a:srgbClr val="FF0000"/>
                </a:solidFill>
              </a:rPr>
              <a:t>中。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由于一些限制，我们将每块数据分三次发送，每次发送大约</a:t>
            </a:r>
            <a:r>
              <a:rPr lang="en-US" altLang="zh-CN" sz="1400" dirty="0">
                <a:solidFill>
                  <a:srgbClr val="FF0000"/>
                </a:solidFill>
              </a:rPr>
              <a:t>1/3</a:t>
            </a:r>
            <a:r>
              <a:rPr lang="zh-CN" altLang="en-US" sz="1400" dirty="0">
                <a:solidFill>
                  <a:srgbClr val="FF0000"/>
                </a:solidFill>
              </a:rPr>
              <a:t>的数据量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5FE317-357D-4201-BB5D-40AEE1E1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215" y="1341253"/>
            <a:ext cx="3661873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4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测试方案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219200"/>
                <a:ext cx="4838700" cy="4800600"/>
              </a:xfrm>
            </p:spPr>
            <p:txBody>
              <a:bodyPr/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）每个部分按</a:t>
                </a:r>
                <a:r>
                  <a:rPr lang="en-US" altLang="zh-CN" dirty="0"/>
                  <a:t>0x81</a:t>
                </a:r>
                <a:r>
                  <a:rPr lang="zh-CN" altLang="en-US" dirty="0"/>
                  <a:t>原语存储方式存为一维数据，每个的长度都应该是：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229×128=29312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𝐵𝑦𝑡𝑒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）的数据分别发送到（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中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Phase 2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：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dirty="0"/>
                  <a:t>发送（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）数据中紧接着的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9728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76*128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r>
                  <a:rPr lang="en-US" altLang="zh-CN" dirty="0"/>
                  <a:t>Byte</a:t>
                </a:r>
                <a:r>
                  <a:rPr lang="zh-CN" altLang="en-US" dirty="0"/>
                  <a:t>数据给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---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9768Byte</a:t>
                </a:r>
                <a:r>
                  <a:rPr lang="zh-CN" altLang="en-US" dirty="0"/>
                  <a:t>数据可以组</a:t>
                </a:r>
                <a:r>
                  <a:rPr lang="en-US" altLang="zh-CN" dirty="0"/>
                  <a:t>1221</a:t>
                </a:r>
                <a:r>
                  <a:rPr lang="zh-CN" altLang="en-US" dirty="0"/>
                  <a:t>个路由包）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其他同理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219200"/>
                <a:ext cx="4838700" cy="4800600"/>
              </a:xfrm>
              <a:blipFill>
                <a:blip r:embed="rId2"/>
                <a:stretch>
                  <a:fillRect l="-630" t="-888" r="-1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791200" y="4343401"/>
            <a:ext cx="2933700" cy="2191532"/>
          </a:xfrm>
        </p:spPr>
        <p:txBody>
          <a:bodyPr/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这六块数据，最终的目的是分别发送到六个</a:t>
            </a:r>
            <a:r>
              <a:rPr lang="en-US" altLang="zh-CN" sz="1400" dirty="0">
                <a:solidFill>
                  <a:srgbClr val="FF0000"/>
                </a:solidFill>
              </a:rPr>
              <a:t>Core</a:t>
            </a:r>
            <a:r>
              <a:rPr lang="zh-CN" altLang="en-US" sz="1400" dirty="0">
                <a:solidFill>
                  <a:srgbClr val="FF0000"/>
                </a:solidFill>
              </a:rPr>
              <a:t>中。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由于一些限制，我们将每块数据分三次发送，每次发送大约</a:t>
            </a:r>
            <a:r>
              <a:rPr lang="en-US" altLang="zh-CN" sz="1400" dirty="0">
                <a:solidFill>
                  <a:srgbClr val="FF0000"/>
                </a:solidFill>
              </a:rPr>
              <a:t>1/3</a:t>
            </a:r>
            <a:r>
              <a:rPr lang="zh-CN" altLang="en-US" sz="1400" dirty="0">
                <a:solidFill>
                  <a:srgbClr val="FF0000"/>
                </a:solidFill>
              </a:rPr>
              <a:t>的数据量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5FE317-357D-4201-BB5D-40AEE1E1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215" y="1341253"/>
            <a:ext cx="3661873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85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测试方案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219200"/>
                <a:ext cx="4533900" cy="5486400"/>
              </a:xfrm>
            </p:spPr>
            <p:txBody>
              <a:bodyPr/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）每个部分按</a:t>
                </a:r>
                <a:r>
                  <a:rPr lang="en-US" altLang="zh-CN" dirty="0"/>
                  <a:t>0x81</a:t>
                </a:r>
                <a:r>
                  <a:rPr lang="zh-CN" altLang="en-US" dirty="0"/>
                  <a:t>原语存储方式存为一维数据，每个的长度都应该是：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229×128=29312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𝐵𝑦𝑡𝑒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）的数据分别发送到（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~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中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b="1" dirty="0"/>
                  <a:t>Phase 3</a:t>
                </a:r>
                <a:r>
                  <a:rPr lang="zh-CN" altLang="en-US" b="1" dirty="0"/>
                  <a:t>：</a:t>
                </a:r>
                <a:endParaRPr lang="en-US" altLang="zh-CN" b="1" dirty="0"/>
              </a:p>
              <a:p>
                <a:pPr lvl="1"/>
                <a:r>
                  <a:rPr lang="zh-CN" altLang="en-US" dirty="0"/>
                  <a:t>发送（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）数据中紧接着的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9728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76*128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 </a:t>
                </a:r>
                <a:r>
                  <a:rPr lang="en-US" altLang="zh-CN" dirty="0"/>
                  <a:t>Byte</a:t>
                </a:r>
                <a:r>
                  <a:rPr lang="zh-CN" altLang="en-US" dirty="0"/>
                  <a:t>数据给</a:t>
                </a:r>
                <a:r>
                  <a:rPr lang="en-US" altLang="zh-CN" dirty="0"/>
                  <a:t>Core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---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9768Byte</a:t>
                </a:r>
                <a:r>
                  <a:rPr lang="zh-CN" altLang="en-US" dirty="0"/>
                  <a:t>数据可以组</a:t>
                </a:r>
                <a:r>
                  <a:rPr lang="en-US" altLang="zh-CN" dirty="0"/>
                  <a:t>1221</a:t>
                </a:r>
                <a:r>
                  <a:rPr lang="zh-CN" altLang="en-US" dirty="0"/>
                  <a:t>个路由包）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其他同理</a:t>
                </a:r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</a:rPr>
                  <a:t>至此，三个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phase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每个分别发送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9856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9728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9728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Byte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的数据，总计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29312Byte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（即发送完成）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E68B2F-5AD6-40CF-93C4-A5563A3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219200"/>
                <a:ext cx="4533900" cy="5486400"/>
              </a:xfrm>
              <a:blipFill>
                <a:blip r:embed="rId2"/>
                <a:stretch>
                  <a:fillRect l="-672" t="-778" r="-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791200" y="4038600"/>
            <a:ext cx="2933700" cy="2191532"/>
          </a:xfrm>
        </p:spPr>
        <p:txBody>
          <a:bodyPr/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这六块数据，最终的目的是分别发送到六个</a:t>
            </a:r>
            <a:r>
              <a:rPr lang="en-US" altLang="zh-CN" sz="1400" dirty="0">
                <a:solidFill>
                  <a:srgbClr val="FF0000"/>
                </a:solidFill>
              </a:rPr>
              <a:t>Core</a:t>
            </a:r>
            <a:r>
              <a:rPr lang="zh-CN" altLang="en-US" sz="1400" dirty="0">
                <a:solidFill>
                  <a:srgbClr val="FF0000"/>
                </a:solidFill>
              </a:rPr>
              <a:t>中。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由于一些限制，我们将每块数据分三次发送，每次发送大约</a:t>
            </a:r>
            <a:r>
              <a:rPr lang="en-US" altLang="zh-CN" sz="1400" dirty="0">
                <a:solidFill>
                  <a:srgbClr val="FF0000"/>
                </a:solidFill>
              </a:rPr>
              <a:t>1/3</a:t>
            </a:r>
            <a:r>
              <a:rPr lang="zh-CN" altLang="en-US" sz="1400" dirty="0">
                <a:solidFill>
                  <a:srgbClr val="FF0000"/>
                </a:solidFill>
              </a:rPr>
              <a:t>的数据量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5FE317-357D-4201-BB5D-40AEE1E1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215" y="1341253"/>
            <a:ext cx="3661873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3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DE3E-2789-4C22-8C86-1DB8A3F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测试方案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68B2F-5AD6-40CF-93C4-A5563A3BD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19200"/>
            <a:ext cx="4305300" cy="4800600"/>
          </a:xfrm>
        </p:spPr>
        <p:txBody>
          <a:bodyPr/>
          <a:lstStyle/>
          <a:p>
            <a:r>
              <a:rPr lang="zh-CN" altLang="en-US" dirty="0"/>
              <a:t>这些包每个</a:t>
            </a:r>
            <a:r>
              <a:rPr lang="en-US" altLang="zh-CN" dirty="0"/>
              <a:t>phase</a:t>
            </a:r>
            <a:r>
              <a:rPr lang="zh-CN" altLang="en-US" dirty="0"/>
              <a:t>接收</a:t>
            </a:r>
            <a:r>
              <a:rPr lang="en-US" altLang="zh-CN" dirty="0"/>
              <a:t>core</a:t>
            </a:r>
            <a:r>
              <a:rPr lang="zh-CN" altLang="en-US" dirty="0"/>
              <a:t>需要</a:t>
            </a:r>
            <a:r>
              <a:rPr lang="zh-CN" altLang="en-US" dirty="0">
                <a:solidFill>
                  <a:srgbClr val="FF0000"/>
                </a:solidFill>
              </a:rPr>
              <a:t>收到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个结束标志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（打包时，关于结束标志需要注意）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F29AC9-72BB-40D3-A8AC-8280F0C4EF5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5FE317-357D-4201-BB5D-40AEE1E1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215" y="1341253"/>
            <a:ext cx="3661873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80053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黑体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13083</TotalTime>
  <Words>1459</Words>
  <Application>Microsoft Office PowerPoint</Application>
  <PresentationFormat>全屏显示(4:3)</PresentationFormat>
  <Paragraphs>136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  <vt:variant>
        <vt:lpstr>自定义放映</vt:lpstr>
      </vt:variant>
      <vt:variant>
        <vt:i4>1</vt:i4>
      </vt:variant>
    </vt:vector>
  </HeadingPairs>
  <TitlesOfParts>
    <vt:vector size="28" baseType="lpstr">
      <vt:lpstr>黑体</vt:lpstr>
      <vt:lpstr>楷体</vt:lpstr>
      <vt:lpstr>隶书</vt:lpstr>
      <vt:lpstr>宋体</vt:lpstr>
      <vt:lpstr>Arial</vt:lpstr>
      <vt:lpstr>Cambria Math</vt:lpstr>
      <vt:lpstr>Tahoma</vt:lpstr>
      <vt:lpstr>Times New Roman</vt:lpstr>
      <vt:lpstr>Wingdings</vt:lpstr>
      <vt:lpstr>Wingdings 2</vt:lpstr>
      <vt:lpstr>默认设计模板</vt:lpstr>
      <vt:lpstr>ResNet图像分类演示 ----预处理&amp;拆包组包</vt:lpstr>
      <vt:lpstr>整体流程</vt:lpstr>
      <vt:lpstr>PowerPoint 演示文稿</vt:lpstr>
      <vt:lpstr>预处理——算法实现</vt:lpstr>
      <vt:lpstr>预处理——算法实现</vt:lpstr>
      <vt:lpstr>预处理——硬件实现</vt:lpstr>
      <vt:lpstr>PowerPoint 演示文稿</vt:lpstr>
      <vt:lpstr>2. 拆分</vt:lpstr>
      <vt:lpstr>2. 拆分</vt:lpstr>
      <vt:lpstr>2. 拆分</vt:lpstr>
      <vt:lpstr>2. 拆分</vt:lpstr>
      <vt:lpstr>PowerPoint 演示文稿</vt:lpstr>
      <vt:lpstr>3. 组包</vt:lpstr>
      <vt:lpstr>3. 测试方案</vt:lpstr>
      <vt:lpstr>3. 测试方案</vt:lpstr>
      <vt:lpstr>3. 测试方案</vt:lpstr>
      <vt:lpstr>自定义放映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cwj</dc:creator>
  <cp:lastModifiedBy>sch20</cp:lastModifiedBy>
  <cp:revision>1156</cp:revision>
  <cp:lastPrinted>1601-01-01T00:00:00Z</cp:lastPrinted>
  <dcterms:created xsi:type="dcterms:W3CDTF">1601-01-01T00:00:00Z</dcterms:created>
  <dcterms:modified xsi:type="dcterms:W3CDTF">2021-12-08T06:11:27Z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